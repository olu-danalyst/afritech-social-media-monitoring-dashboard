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60" r:id="rId4"/>
    <p:sldId id="259" r:id="rId5"/>
    <p:sldId id="257" r:id="rId6"/>
    <p:sldId id="261" r:id="rId7"/>
    <p:sldId id="264" r:id="rId8"/>
    <p:sldId id="265" r:id="rId9"/>
    <p:sldId id="266" r:id="rId10"/>
    <p:sldId id="267" r:id="rId11"/>
    <p:sldId id="268" r:id="rId12"/>
    <p:sldId id="269" r:id="rId13"/>
    <p:sldId id="270" r:id="rId14"/>
    <p:sldId id="263"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17A9B0-0AC6-4A83-8516-D153962F376F}" v="15" dt="2025-11-10T19:22:44.4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20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gun balogun" userId="fc543ee26bf4ee40" providerId="LiveId" clId="{18C638F6-798F-4644-8C09-EEFD90CA490D}"/>
    <pc:docChg chg="undo custSel addSld delSld modSld sldOrd">
      <pc:chgData name="segun balogun" userId="fc543ee26bf4ee40" providerId="LiveId" clId="{18C638F6-798F-4644-8C09-EEFD90CA490D}" dt="2025-11-10T19:41:30.235" v="352" actId="1076"/>
      <pc:docMkLst>
        <pc:docMk/>
      </pc:docMkLst>
      <pc:sldChg chg="modSp mod">
        <pc:chgData name="segun balogun" userId="fc543ee26bf4ee40" providerId="LiveId" clId="{18C638F6-798F-4644-8C09-EEFD90CA490D}" dt="2025-11-10T19:38:40.138" v="328" actId="1076"/>
        <pc:sldMkLst>
          <pc:docMk/>
          <pc:sldMk cId="2560555931" sldId="257"/>
        </pc:sldMkLst>
        <pc:picChg chg="mod">
          <ac:chgData name="segun balogun" userId="fc543ee26bf4ee40" providerId="LiveId" clId="{18C638F6-798F-4644-8C09-EEFD90CA490D}" dt="2025-11-10T19:38:32.482" v="325" actId="1076"/>
          <ac:picMkLst>
            <pc:docMk/>
            <pc:sldMk cId="2560555931" sldId="257"/>
            <ac:picMk id="41" creationId="{D812BFF8-7FC7-325C-4C6D-76D40760A63E}"/>
          </ac:picMkLst>
        </pc:picChg>
        <pc:picChg chg="mod">
          <ac:chgData name="segun balogun" userId="fc543ee26bf4ee40" providerId="LiveId" clId="{18C638F6-798F-4644-8C09-EEFD90CA490D}" dt="2025-11-10T19:38:35.477" v="326" actId="1076"/>
          <ac:picMkLst>
            <pc:docMk/>
            <pc:sldMk cId="2560555931" sldId="257"/>
            <ac:picMk id="43" creationId="{307F8C51-DACE-48D8-CF6E-D13DD138F3BF}"/>
          </ac:picMkLst>
        </pc:picChg>
        <pc:picChg chg="mod">
          <ac:chgData name="segun balogun" userId="fc543ee26bf4ee40" providerId="LiveId" clId="{18C638F6-798F-4644-8C09-EEFD90CA490D}" dt="2025-11-10T19:38:40.138" v="328" actId="1076"/>
          <ac:picMkLst>
            <pc:docMk/>
            <pc:sldMk cId="2560555931" sldId="257"/>
            <ac:picMk id="45" creationId="{7DA38681-DF13-BE03-0E8E-3032D18970B0}"/>
          </ac:picMkLst>
        </pc:picChg>
        <pc:picChg chg="mod">
          <ac:chgData name="segun balogun" userId="fc543ee26bf4ee40" providerId="LiveId" clId="{18C638F6-798F-4644-8C09-EEFD90CA490D}" dt="2025-11-10T19:38:38.132" v="327" actId="1076"/>
          <ac:picMkLst>
            <pc:docMk/>
            <pc:sldMk cId="2560555931" sldId="257"/>
            <ac:picMk id="47" creationId="{336C2487-7C84-4A30-3D84-A2917DC0885D}"/>
          </ac:picMkLst>
        </pc:picChg>
      </pc:sldChg>
      <pc:sldChg chg="addSp delSp modSp mod setBg">
        <pc:chgData name="segun balogun" userId="fc543ee26bf4ee40" providerId="LiveId" clId="{18C638F6-798F-4644-8C09-EEFD90CA490D}" dt="2025-11-10T19:32:23.706" v="270" actId="113"/>
        <pc:sldMkLst>
          <pc:docMk/>
          <pc:sldMk cId="2165465816" sldId="258"/>
        </pc:sldMkLst>
        <pc:spChg chg="mod">
          <ac:chgData name="segun balogun" userId="fc543ee26bf4ee40" providerId="LiveId" clId="{18C638F6-798F-4644-8C09-EEFD90CA490D}" dt="2025-11-10T19:32:23.706" v="270" actId="113"/>
          <ac:spMkLst>
            <pc:docMk/>
            <pc:sldMk cId="2165465816" sldId="258"/>
            <ac:spMk id="4" creationId="{414E2153-3A2A-54BE-1F4A-49876DEDDF9D}"/>
          </ac:spMkLst>
        </pc:spChg>
        <pc:spChg chg="mod">
          <ac:chgData name="segun balogun" userId="fc543ee26bf4ee40" providerId="LiveId" clId="{18C638F6-798F-4644-8C09-EEFD90CA490D}" dt="2025-11-10T19:26:25.693" v="246" actId="5793"/>
          <ac:spMkLst>
            <pc:docMk/>
            <pc:sldMk cId="2165465816" sldId="258"/>
            <ac:spMk id="5" creationId="{31193FA3-4EBD-C42F-F878-8F82ECFC70F7}"/>
          </ac:spMkLst>
        </pc:spChg>
        <pc:spChg chg="add del">
          <ac:chgData name="segun balogun" userId="fc543ee26bf4ee40" providerId="LiveId" clId="{18C638F6-798F-4644-8C09-EEFD90CA490D}" dt="2025-11-10T19:25:57.458" v="240" actId="26606"/>
          <ac:spMkLst>
            <pc:docMk/>
            <pc:sldMk cId="2165465816" sldId="258"/>
            <ac:spMk id="16" creationId="{23E547B5-89CF-4EC0-96DE-25771AED0799}"/>
          </ac:spMkLst>
        </pc:spChg>
        <pc:spChg chg="add del">
          <ac:chgData name="segun balogun" userId="fc543ee26bf4ee40" providerId="LiveId" clId="{18C638F6-798F-4644-8C09-EEFD90CA490D}" dt="2025-11-10T19:25:57.458" v="240" actId="26606"/>
          <ac:spMkLst>
            <pc:docMk/>
            <pc:sldMk cId="2165465816" sldId="258"/>
            <ac:spMk id="18" creationId="{3F0B8CEB-8279-4E5E-A0CE-1FC9F71736F2}"/>
          </ac:spMkLst>
        </pc:spChg>
        <pc:picChg chg="add mod">
          <ac:chgData name="segun balogun" userId="fc543ee26bf4ee40" providerId="LiveId" clId="{18C638F6-798F-4644-8C09-EEFD90CA490D}" dt="2025-11-10T19:25:57.458" v="240" actId="26606"/>
          <ac:picMkLst>
            <pc:docMk/>
            <pc:sldMk cId="2165465816" sldId="258"/>
            <ac:picMk id="7" creationId="{0EBB46B1-4472-62B9-7AC6-275CA3E75619}"/>
          </ac:picMkLst>
        </pc:picChg>
        <pc:cxnChg chg="add del">
          <ac:chgData name="segun balogun" userId="fc543ee26bf4ee40" providerId="LiveId" clId="{18C638F6-798F-4644-8C09-EEFD90CA490D}" dt="2025-11-10T19:24:43.726" v="231" actId="26606"/>
          <ac:cxnSpMkLst>
            <pc:docMk/>
            <pc:sldMk cId="2165465816" sldId="258"/>
            <ac:cxnSpMk id="11" creationId="{249EDD1B-F94D-B4E6-ACAA-566B9A26FDE3}"/>
          </ac:cxnSpMkLst>
        </pc:cxnChg>
      </pc:sldChg>
      <pc:sldChg chg="addSp modSp mod setBg">
        <pc:chgData name="segun balogun" userId="fc543ee26bf4ee40" providerId="LiveId" clId="{18C638F6-798F-4644-8C09-EEFD90CA490D}" dt="2025-11-10T19:37:23.534" v="318" actId="114"/>
        <pc:sldMkLst>
          <pc:docMk/>
          <pc:sldMk cId="575191337" sldId="259"/>
        </pc:sldMkLst>
        <pc:spChg chg="mod">
          <ac:chgData name="segun balogun" userId="fc543ee26bf4ee40" providerId="LiveId" clId="{18C638F6-798F-4644-8C09-EEFD90CA490D}" dt="2025-11-10T19:33:36.292" v="282" actId="14100"/>
          <ac:spMkLst>
            <pc:docMk/>
            <pc:sldMk cId="575191337" sldId="259"/>
            <ac:spMk id="2" creationId="{8F314788-F565-A217-C617-E28E5FCBC024}"/>
          </ac:spMkLst>
        </pc:spChg>
        <pc:spChg chg="mod">
          <ac:chgData name="segun balogun" userId="fc543ee26bf4ee40" providerId="LiveId" clId="{18C638F6-798F-4644-8C09-EEFD90CA490D}" dt="2025-11-10T19:37:23.534" v="318" actId="114"/>
          <ac:spMkLst>
            <pc:docMk/>
            <pc:sldMk cId="575191337" sldId="259"/>
            <ac:spMk id="3" creationId="{4BA60788-86BF-4228-17E2-9BA5B168DFF7}"/>
          </ac:spMkLst>
        </pc:spChg>
        <pc:spChg chg="add">
          <ac:chgData name="segun balogun" userId="fc543ee26bf4ee40" providerId="LiveId" clId="{18C638F6-798F-4644-8C09-EEFD90CA490D}" dt="2025-11-10T19:33:08.543" v="277" actId="26606"/>
          <ac:spMkLst>
            <pc:docMk/>
            <pc:sldMk cId="575191337" sldId="259"/>
            <ac:spMk id="8" creationId="{3AD318CC-E2A8-4E27-9548-A047A78999B1}"/>
          </ac:spMkLst>
        </pc:spChg>
        <pc:spChg chg="add">
          <ac:chgData name="segun balogun" userId="fc543ee26bf4ee40" providerId="LiveId" clId="{18C638F6-798F-4644-8C09-EEFD90CA490D}" dt="2025-11-10T19:33:08.543" v="277" actId="26606"/>
          <ac:spMkLst>
            <pc:docMk/>
            <pc:sldMk cId="575191337" sldId="259"/>
            <ac:spMk id="14" creationId="{2C1BBA94-3F40-40AA-8BB9-E69E25E537C1}"/>
          </ac:spMkLst>
        </pc:spChg>
        <pc:grpChg chg="add">
          <ac:chgData name="segun balogun" userId="fc543ee26bf4ee40" providerId="LiveId" clId="{18C638F6-798F-4644-8C09-EEFD90CA490D}" dt="2025-11-10T19:33:08.543" v="277" actId="26606"/>
          <ac:grpSpMkLst>
            <pc:docMk/>
            <pc:sldMk cId="575191337" sldId="259"/>
            <ac:grpSpMk id="10" creationId="{B14B560F-9DD7-4302-A60B-EBD3EF59B073}"/>
          </ac:grpSpMkLst>
        </pc:grpChg>
      </pc:sldChg>
      <pc:sldChg chg="addSp delSp modSp mod setBg">
        <pc:chgData name="segun balogun" userId="fc543ee26bf4ee40" providerId="LiveId" clId="{18C638F6-798F-4644-8C09-EEFD90CA490D}" dt="2025-11-10T19:32:52.466" v="276" actId="113"/>
        <pc:sldMkLst>
          <pc:docMk/>
          <pc:sldMk cId="674159103" sldId="260"/>
        </pc:sldMkLst>
        <pc:spChg chg="mod">
          <ac:chgData name="segun balogun" userId="fc543ee26bf4ee40" providerId="LiveId" clId="{18C638F6-798F-4644-8C09-EEFD90CA490D}" dt="2025-11-10T19:32:52.466" v="276" actId="113"/>
          <ac:spMkLst>
            <pc:docMk/>
            <pc:sldMk cId="674159103" sldId="260"/>
            <ac:spMk id="4" creationId="{999FBB33-9048-5468-7828-A9F639A9BF29}"/>
          </ac:spMkLst>
        </pc:spChg>
        <pc:spChg chg="mod">
          <ac:chgData name="segun balogun" userId="fc543ee26bf4ee40" providerId="LiveId" clId="{18C638F6-798F-4644-8C09-EEFD90CA490D}" dt="2025-11-10T19:31:59.759" v="266" actId="113"/>
          <ac:spMkLst>
            <pc:docMk/>
            <pc:sldMk cId="674159103" sldId="260"/>
            <ac:spMk id="5" creationId="{A4B089FC-38C8-7008-A500-658ECB8283FB}"/>
          </ac:spMkLst>
        </pc:spChg>
        <pc:spChg chg="add">
          <ac:chgData name="segun balogun" userId="fc543ee26bf4ee40" providerId="LiveId" clId="{18C638F6-798F-4644-8C09-EEFD90CA490D}" dt="2025-11-10T19:29:34.502" v="249" actId="26606"/>
          <ac:spMkLst>
            <pc:docMk/>
            <pc:sldMk cId="674159103" sldId="260"/>
            <ac:spMk id="7" creationId="{3AD318CC-E2A8-4E27-9548-A047A78999B1}"/>
          </ac:spMkLst>
        </pc:spChg>
        <pc:spChg chg="add del">
          <ac:chgData name="segun balogun" userId="fc543ee26bf4ee40" providerId="LiveId" clId="{18C638F6-798F-4644-8C09-EEFD90CA490D}" dt="2025-11-10T19:27:50.589" v="248" actId="26606"/>
          <ac:spMkLst>
            <pc:docMk/>
            <pc:sldMk cId="674159103" sldId="260"/>
            <ac:spMk id="10" creationId="{7515D20E-1AB7-4E74-9236-2B72B63D60B6}"/>
          </ac:spMkLst>
        </pc:spChg>
        <pc:spChg chg="add">
          <ac:chgData name="segun balogun" userId="fc543ee26bf4ee40" providerId="LiveId" clId="{18C638F6-798F-4644-8C09-EEFD90CA490D}" dt="2025-11-10T19:29:34.502" v="249" actId="26606"/>
          <ac:spMkLst>
            <pc:docMk/>
            <pc:sldMk cId="674159103" sldId="260"/>
            <ac:spMk id="16" creationId="{2C1BBA94-3F40-40AA-8BB9-E69E25E537C1}"/>
          </ac:spMkLst>
        </pc:spChg>
        <pc:spChg chg="add del">
          <ac:chgData name="segun balogun" userId="fc543ee26bf4ee40" providerId="LiveId" clId="{18C638F6-798F-4644-8C09-EEFD90CA490D}" dt="2025-11-10T19:27:50.589" v="248" actId="26606"/>
          <ac:spMkLst>
            <pc:docMk/>
            <pc:sldMk cId="674159103" sldId="260"/>
            <ac:spMk id="17" creationId="{3873B707-463F-40B0-8227-E8CC6C67EB25}"/>
          </ac:spMkLst>
        </pc:spChg>
        <pc:spChg chg="add del">
          <ac:chgData name="segun balogun" userId="fc543ee26bf4ee40" providerId="LiveId" clId="{18C638F6-798F-4644-8C09-EEFD90CA490D}" dt="2025-11-10T19:27:50.589" v="248" actId="26606"/>
          <ac:spMkLst>
            <pc:docMk/>
            <pc:sldMk cId="674159103" sldId="260"/>
            <ac:spMk id="19" creationId="{19C9EAEA-39D0-4B0E-A0EB-51E7B26740B1}"/>
          </ac:spMkLst>
        </pc:spChg>
        <pc:grpChg chg="add">
          <ac:chgData name="segun balogun" userId="fc543ee26bf4ee40" providerId="LiveId" clId="{18C638F6-798F-4644-8C09-EEFD90CA490D}" dt="2025-11-10T19:29:34.502" v="249" actId="26606"/>
          <ac:grpSpMkLst>
            <pc:docMk/>
            <pc:sldMk cId="674159103" sldId="260"/>
            <ac:grpSpMk id="8" creationId="{B14B560F-9DD7-4302-A60B-EBD3EF59B073}"/>
          </ac:grpSpMkLst>
        </pc:grpChg>
        <pc:grpChg chg="add del">
          <ac:chgData name="segun balogun" userId="fc543ee26bf4ee40" providerId="LiveId" clId="{18C638F6-798F-4644-8C09-EEFD90CA490D}" dt="2025-11-10T19:27:50.589" v="248" actId="26606"/>
          <ac:grpSpMkLst>
            <pc:docMk/>
            <pc:sldMk cId="674159103" sldId="260"/>
            <ac:grpSpMk id="12" creationId="{032D8612-31EB-44CF-A1D0-14FD4C705424}"/>
          </ac:grpSpMkLst>
        </pc:grpChg>
      </pc:sldChg>
      <pc:sldChg chg="modSp mod">
        <pc:chgData name="segun balogun" userId="fc543ee26bf4ee40" providerId="LiveId" clId="{18C638F6-798F-4644-8C09-EEFD90CA490D}" dt="2025-11-10T19:39:01.849" v="330" actId="1076"/>
        <pc:sldMkLst>
          <pc:docMk/>
          <pc:sldMk cId="3967286185" sldId="261"/>
        </pc:sldMkLst>
        <pc:spChg chg="mod">
          <ac:chgData name="segun balogun" userId="fc543ee26bf4ee40" providerId="LiveId" clId="{18C638F6-798F-4644-8C09-EEFD90CA490D}" dt="2025-11-10T19:39:01.849" v="330" actId="1076"/>
          <ac:spMkLst>
            <pc:docMk/>
            <pc:sldMk cId="3967286185" sldId="261"/>
            <ac:spMk id="10" creationId="{DD1DAF97-98FA-307D-64CE-86DAF479E298}"/>
          </ac:spMkLst>
        </pc:spChg>
      </pc:sldChg>
      <pc:sldChg chg="addSp modSp mod">
        <pc:chgData name="segun balogun" userId="fc543ee26bf4ee40" providerId="LiveId" clId="{18C638F6-798F-4644-8C09-EEFD90CA490D}" dt="2025-11-10T19:23:06.081" v="220" actId="113"/>
        <pc:sldMkLst>
          <pc:docMk/>
          <pc:sldMk cId="731701600" sldId="262"/>
        </pc:sldMkLst>
        <pc:spChg chg="add mod">
          <ac:chgData name="segun balogun" userId="fc543ee26bf4ee40" providerId="LiveId" clId="{18C638F6-798F-4644-8C09-EEFD90CA490D}" dt="2025-11-10T19:20:12.401" v="197" actId="113"/>
          <ac:spMkLst>
            <pc:docMk/>
            <pc:sldMk cId="731701600" sldId="262"/>
            <ac:spMk id="2" creationId="{804D8F2B-B733-3718-369F-DF6AB4182820}"/>
          </ac:spMkLst>
        </pc:spChg>
        <pc:spChg chg="add mod">
          <ac:chgData name="segun balogun" userId="fc543ee26bf4ee40" providerId="LiveId" clId="{18C638F6-798F-4644-8C09-EEFD90CA490D}" dt="2025-11-10T19:23:06.081" v="220" actId="113"/>
          <ac:spMkLst>
            <pc:docMk/>
            <pc:sldMk cId="731701600" sldId="262"/>
            <ac:spMk id="3" creationId="{F8D35E9C-596F-1CAC-7BA7-0BEDA92234DD}"/>
          </ac:spMkLst>
        </pc:spChg>
      </pc:sldChg>
      <pc:sldChg chg="addSp delSp modSp mod setBg">
        <pc:chgData name="segun balogun" userId="fc543ee26bf4ee40" providerId="LiveId" clId="{18C638F6-798F-4644-8C09-EEFD90CA490D}" dt="2025-11-10T19:11:53.769" v="138" actId="113"/>
        <pc:sldMkLst>
          <pc:docMk/>
          <pc:sldMk cId="2296257393" sldId="263"/>
        </pc:sldMkLst>
        <pc:spChg chg="del mod">
          <ac:chgData name="segun balogun" userId="fc543ee26bf4ee40" providerId="LiveId" clId="{18C638F6-798F-4644-8C09-EEFD90CA490D}" dt="2025-11-10T19:08:16.272" v="103" actId="478"/>
          <ac:spMkLst>
            <pc:docMk/>
            <pc:sldMk cId="2296257393" sldId="263"/>
            <ac:spMk id="2" creationId="{615E8EE1-E0F0-3AC6-E0D7-CCD6AE89E1AD}"/>
          </ac:spMkLst>
        </pc:spChg>
        <pc:spChg chg="add del mod">
          <ac:chgData name="segun balogun" userId="fc543ee26bf4ee40" providerId="LiveId" clId="{18C638F6-798F-4644-8C09-EEFD90CA490D}" dt="2025-11-10T19:04:44.481" v="96" actId="26606"/>
          <ac:spMkLst>
            <pc:docMk/>
            <pc:sldMk cId="2296257393" sldId="263"/>
            <ac:spMk id="3" creationId="{B7DAB172-B89F-D608-C4A5-6B7C1B398973}"/>
          </ac:spMkLst>
        </pc:spChg>
        <pc:spChg chg="add mod">
          <ac:chgData name="segun balogun" userId="fc543ee26bf4ee40" providerId="LiveId" clId="{18C638F6-798F-4644-8C09-EEFD90CA490D}" dt="2025-11-10T19:11:53.769" v="138" actId="113"/>
          <ac:spMkLst>
            <pc:docMk/>
            <pc:sldMk cId="2296257393" sldId="263"/>
            <ac:spMk id="4" creationId="{9358C50D-A0EC-4758-F9D8-9E9410C2879A}"/>
          </ac:spMkLst>
        </pc:spChg>
        <pc:spChg chg="add">
          <ac:chgData name="segun balogun" userId="fc543ee26bf4ee40" providerId="LiveId" clId="{18C638F6-798F-4644-8C09-EEFD90CA490D}" dt="2025-11-10T19:04:44.481" v="96" actId="26606"/>
          <ac:spMkLst>
            <pc:docMk/>
            <pc:sldMk cId="2296257393" sldId="263"/>
            <ac:spMk id="10" creationId="{B50AB553-2A96-4A92-96F2-93548E096954}"/>
          </ac:spMkLst>
        </pc:spChg>
        <pc:graphicFrameChg chg="add mod modGraphic">
          <ac:chgData name="segun balogun" userId="fc543ee26bf4ee40" providerId="LiveId" clId="{18C638F6-798F-4644-8C09-EEFD90CA490D}" dt="2025-11-10T19:11:41.387" v="136" actId="255"/>
          <ac:graphicFrameMkLst>
            <pc:docMk/>
            <pc:sldMk cId="2296257393" sldId="263"/>
            <ac:graphicFrameMk id="5" creationId="{38681011-8539-8306-553C-492D23BB62E8}"/>
          </ac:graphicFrameMkLst>
        </pc:graphicFrameChg>
        <pc:picChg chg="del">
          <ac:chgData name="segun balogun" userId="fc543ee26bf4ee40" providerId="LiveId" clId="{18C638F6-798F-4644-8C09-EEFD90CA490D}" dt="2025-11-10T18:57:35.597" v="31" actId="478"/>
          <ac:picMkLst>
            <pc:docMk/>
            <pc:sldMk cId="2296257393" sldId="263"/>
            <ac:picMk id="6" creationId="{F6795A93-4C31-51E9-FF77-C232919293F0}"/>
          </ac:picMkLst>
        </pc:picChg>
        <pc:picChg chg="add mod">
          <ac:chgData name="segun balogun" userId="fc543ee26bf4ee40" providerId="LiveId" clId="{18C638F6-798F-4644-8C09-EEFD90CA490D}" dt="2025-11-10T19:10:28.905" v="124" actId="207"/>
          <ac:picMkLst>
            <pc:docMk/>
            <pc:sldMk cId="2296257393" sldId="263"/>
            <ac:picMk id="7" creationId="{BD1758B2-946D-E1EE-8CA4-55AFACAAB437}"/>
          </ac:picMkLst>
        </pc:picChg>
      </pc:sldChg>
      <pc:sldChg chg="modSp mod">
        <pc:chgData name="segun balogun" userId="fc543ee26bf4ee40" providerId="LiveId" clId="{18C638F6-798F-4644-8C09-EEFD90CA490D}" dt="2025-11-10T19:39:38.091" v="334" actId="14100"/>
        <pc:sldMkLst>
          <pc:docMk/>
          <pc:sldMk cId="2732805404" sldId="264"/>
        </pc:sldMkLst>
        <pc:spChg chg="mod">
          <ac:chgData name="segun balogun" userId="fc543ee26bf4ee40" providerId="LiveId" clId="{18C638F6-798F-4644-8C09-EEFD90CA490D}" dt="2025-11-10T19:39:16.482" v="332" actId="1076"/>
          <ac:spMkLst>
            <pc:docMk/>
            <pc:sldMk cId="2732805404" sldId="264"/>
            <ac:spMk id="10" creationId="{E2EFBC9A-7D48-5C9C-594F-95CA660EF73E}"/>
          </ac:spMkLst>
        </pc:spChg>
        <pc:picChg chg="mod">
          <ac:chgData name="segun balogun" userId="fc543ee26bf4ee40" providerId="LiveId" clId="{18C638F6-798F-4644-8C09-EEFD90CA490D}" dt="2025-11-10T19:39:38.091" v="334" actId="14100"/>
          <ac:picMkLst>
            <pc:docMk/>
            <pc:sldMk cId="2732805404" sldId="264"/>
            <ac:picMk id="4" creationId="{3BC4C7DD-BBEC-DF1B-0971-4317B0A76DAD}"/>
          </ac:picMkLst>
        </pc:picChg>
      </pc:sldChg>
      <pc:sldChg chg="modSp mod">
        <pc:chgData name="segun balogun" userId="fc543ee26bf4ee40" providerId="LiveId" clId="{18C638F6-798F-4644-8C09-EEFD90CA490D}" dt="2025-11-10T19:37:45.208" v="320" actId="1076"/>
        <pc:sldMkLst>
          <pc:docMk/>
          <pc:sldMk cId="3004680784" sldId="265"/>
        </pc:sldMkLst>
        <pc:spChg chg="mod">
          <ac:chgData name="segun balogun" userId="fc543ee26bf4ee40" providerId="LiveId" clId="{18C638F6-798F-4644-8C09-EEFD90CA490D}" dt="2025-11-10T19:37:45.208" v="320" actId="1076"/>
          <ac:spMkLst>
            <pc:docMk/>
            <pc:sldMk cId="3004680784" sldId="265"/>
            <ac:spMk id="10" creationId="{9F8C10C1-65D9-BDA3-ECD0-7578126B1939}"/>
          </ac:spMkLst>
        </pc:spChg>
      </pc:sldChg>
      <pc:sldChg chg="modSp mod">
        <pc:chgData name="segun balogun" userId="fc543ee26bf4ee40" providerId="LiveId" clId="{18C638F6-798F-4644-8C09-EEFD90CA490D}" dt="2025-11-10T19:40:20.513" v="346" actId="1076"/>
        <pc:sldMkLst>
          <pc:docMk/>
          <pc:sldMk cId="147915635" sldId="266"/>
        </pc:sldMkLst>
        <pc:spChg chg="mod">
          <ac:chgData name="segun balogun" userId="fc543ee26bf4ee40" providerId="LiveId" clId="{18C638F6-798F-4644-8C09-EEFD90CA490D}" dt="2025-11-10T19:40:20.513" v="346" actId="1076"/>
          <ac:spMkLst>
            <pc:docMk/>
            <pc:sldMk cId="147915635" sldId="266"/>
            <ac:spMk id="11" creationId="{C13B9CFC-FBA2-3635-1C6B-604510CDB168}"/>
          </ac:spMkLst>
        </pc:spChg>
        <pc:picChg chg="mod">
          <ac:chgData name="segun balogun" userId="fc543ee26bf4ee40" providerId="LiveId" clId="{18C638F6-798F-4644-8C09-EEFD90CA490D}" dt="2025-11-10T19:40:09.242" v="345" actId="1038"/>
          <ac:picMkLst>
            <pc:docMk/>
            <pc:sldMk cId="147915635" sldId="266"/>
            <ac:picMk id="4" creationId="{E5B34CCE-D86E-60A7-AB8A-304D55AEA40C}"/>
          </ac:picMkLst>
        </pc:picChg>
      </pc:sldChg>
      <pc:sldChg chg="modSp mod">
        <pc:chgData name="segun balogun" userId="fc543ee26bf4ee40" providerId="LiveId" clId="{18C638F6-798F-4644-8C09-EEFD90CA490D}" dt="2025-11-10T19:40:59.632" v="351" actId="14100"/>
        <pc:sldMkLst>
          <pc:docMk/>
          <pc:sldMk cId="337705632" sldId="267"/>
        </pc:sldMkLst>
        <pc:picChg chg="mod">
          <ac:chgData name="segun balogun" userId="fc543ee26bf4ee40" providerId="LiveId" clId="{18C638F6-798F-4644-8C09-EEFD90CA490D}" dt="2025-11-10T19:40:59.632" v="351" actId="14100"/>
          <ac:picMkLst>
            <pc:docMk/>
            <pc:sldMk cId="337705632" sldId="267"/>
            <ac:picMk id="5" creationId="{274001B7-C4BA-E149-8A4A-AA726F2FF717}"/>
          </ac:picMkLst>
        </pc:picChg>
        <pc:picChg chg="mod">
          <ac:chgData name="segun balogun" userId="fc543ee26bf4ee40" providerId="LiveId" clId="{18C638F6-798F-4644-8C09-EEFD90CA490D}" dt="2025-11-10T19:40:49.084" v="349" actId="1076"/>
          <ac:picMkLst>
            <pc:docMk/>
            <pc:sldMk cId="337705632" sldId="267"/>
            <ac:picMk id="9" creationId="{3B1A3DA3-C598-974F-95FB-A9D1B40F7FD8}"/>
          </ac:picMkLst>
        </pc:picChg>
      </pc:sldChg>
      <pc:sldChg chg="modSp mod">
        <pc:chgData name="segun balogun" userId="fc543ee26bf4ee40" providerId="LiveId" clId="{18C638F6-798F-4644-8C09-EEFD90CA490D}" dt="2025-11-10T18:41:49.789" v="2" actId="1076"/>
        <pc:sldMkLst>
          <pc:docMk/>
          <pc:sldMk cId="3340338598" sldId="268"/>
        </pc:sldMkLst>
        <pc:spChg chg="mod">
          <ac:chgData name="segun balogun" userId="fc543ee26bf4ee40" providerId="LiveId" clId="{18C638F6-798F-4644-8C09-EEFD90CA490D}" dt="2025-11-10T18:41:49.789" v="2" actId="1076"/>
          <ac:spMkLst>
            <pc:docMk/>
            <pc:sldMk cId="3340338598" sldId="268"/>
            <ac:spMk id="11" creationId="{D9EE1A74-4CC7-15FD-A60D-D2A1B64F8541}"/>
          </ac:spMkLst>
        </pc:spChg>
      </pc:sldChg>
      <pc:sldChg chg="addSp delSp modSp add mod">
        <pc:chgData name="segun balogun" userId="fc543ee26bf4ee40" providerId="LiveId" clId="{18C638F6-798F-4644-8C09-EEFD90CA490D}" dt="2025-11-10T18:53:45.723" v="19" actId="20577"/>
        <pc:sldMkLst>
          <pc:docMk/>
          <pc:sldMk cId="1695458678" sldId="269"/>
        </pc:sldMkLst>
        <pc:spChg chg="mod">
          <ac:chgData name="segun balogun" userId="fc543ee26bf4ee40" providerId="LiveId" clId="{18C638F6-798F-4644-8C09-EEFD90CA490D}" dt="2025-11-10T18:53:45.723" v="19" actId="20577"/>
          <ac:spMkLst>
            <pc:docMk/>
            <pc:sldMk cId="1695458678" sldId="269"/>
            <ac:spMk id="11" creationId="{D2B2777B-B52A-B9A1-00B2-16DD313CDA6A}"/>
          </ac:spMkLst>
        </pc:spChg>
        <pc:picChg chg="del">
          <ac:chgData name="segun balogun" userId="fc543ee26bf4ee40" providerId="LiveId" clId="{18C638F6-798F-4644-8C09-EEFD90CA490D}" dt="2025-11-10T18:46:59.655" v="4" actId="478"/>
          <ac:picMkLst>
            <pc:docMk/>
            <pc:sldMk cId="1695458678" sldId="269"/>
            <ac:picMk id="4" creationId="{CDA9F891-B316-7955-93A3-C4546EE92332}"/>
          </ac:picMkLst>
        </pc:picChg>
        <pc:picChg chg="add mod">
          <ac:chgData name="segun balogun" userId="fc543ee26bf4ee40" providerId="LiveId" clId="{18C638F6-798F-4644-8C09-EEFD90CA490D}" dt="2025-11-10T18:53:33.934" v="17" actId="1076"/>
          <ac:picMkLst>
            <pc:docMk/>
            <pc:sldMk cId="1695458678" sldId="269"/>
            <ac:picMk id="5" creationId="{1DC718B9-A583-B781-4F66-129823E4711B}"/>
          </ac:picMkLst>
        </pc:picChg>
        <pc:picChg chg="add mod">
          <ac:chgData name="segun balogun" userId="fc543ee26bf4ee40" providerId="LiveId" clId="{18C638F6-798F-4644-8C09-EEFD90CA490D}" dt="2025-11-10T18:48:19.829" v="13" actId="1076"/>
          <ac:picMkLst>
            <pc:docMk/>
            <pc:sldMk cId="1695458678" sldId="269"/>
            <ac:picMk id="8" creationId="{F285783B-A48E-AA18-B738-F27E3912E3BD}"/>
          </ac:picMkLst>
        </pc:picChg>
      </pc:sldChg>
      <pc:sldChg chg="addSp delSp modSp add mod">
        <pc:chgData name="segun balogun" userId="fc543ee26bf4ee40" providerId="LiveId" clId="{18C638F6-798F-4644-8C09-EEFD90CA490D}" dt="2025-11-10T19:41:30.235" v="352" actId="1076"/>
        <pc:sldMkLst>
          <pc:docMk/>
          <pc:sldMk cId="585437429" sldId="270"/>
        </pc:sldMkLst>
        <pc:spChg chg="mod">
          <ac:chgData name="segun balogun" userId="fc543ee26bf4ee40" providerId="LiveId" clId="{18C638F6-798F-4644-8C09-EEFD90CA490D}" dt="2025-11-10T19:41:30.235" v="352" actId="1076"/>
          <ac:spMkLst>
            <pc:docMk/>
            <pc:sldMk cId="585437429" sldId="270"/>
            <ac:spMk id="11" creationId="{CF5E05F3-65FB-4B86-AC3F-C16DAC1D6B5C}"/>
          </ac:spMkLst>
        </pc:spChg>
        <pc:picChg chg="add mod">
          <ac:chgData name="segun balogun" userId="fc543ee26bf4ee40" providerId="LiveId" clId="{18C638F6-798F-4644-8C09-EEFD90CA490D}" dt="2025-11-10T18:54:56.870" v="24" actId="1076"/>
          <ac:picMkLst>
            <pc:docMk/>
            <pc:sldMk cId="585437429" sldId="270"/>
            <ac:picMk id="4" creationId="{D7CA09C5-857E-0EEA-3C70-1AA23C857114}"/>
          </ac:picMkLst>
        </pc:picChg>
        <pc:picChg chg="del">
          <ac:chgData name="segun balogun" userId="fc543ee26bf4ee40" providerId="LiveId" clId="{18C638F6-798F-4644-8C09-EEFD90CA490D}" dt="2025-11-10T18:54:19.497" v="21" actId="478"/>
          <ac:picMkLst>
            <pc:docMk/>
            <pc:sldMk cId="585437429" sldId="270"/>
            <ac:picMk id="5" creationId="{278C6FA2-A62F-AE53-3A22-DF7E698A3E13}"/>
          </ac:picMkLst>
        </pc:picChg>
        <pc:picChg chg="del">
          <ac:chgData name="segun balogun" userId="fc543ee26bf4ee40" providerId="LiveId" clId="{18C638F6-798F-4644-8C09-EEFD90CA490D}" dt="2025-11-10T18:54:20.521" v="22" actId="478"/>
          <ac:picMkLst>
            <pc:docMk/>
            <pc:sldMk cId="585437429" sldId="270"/>
            <ac:picMk id="8" creationId="{DDD52151-A027-7294-646D-1A76222B4AFE}"/>
          </ac:picMkLst>
        </pc:picChg>
      </pc:sldChg>
      <pc:sldChg chg="addSp delSp modSp add del mod ord">
        <pc:chgData name="segun balogun" userId="fc543ee26bf4ee40" providerId="LiveId" clId="{18C638F6-798F-4644-8C09-EEFD90CA490D}" dt="2025-11-10T19:23:19.588" v="221" actId="2696"/>
        <pc:sldMkLst>
          <pc:docMk/>
          <pc:sldMk cId="1261648120" sldId="271"/>
        </pc:sldMkLst>
        <pc:spChg chg="del">
          <ac:chgData name="segun balogun" userId="fc543ee26bf4ee40" providerId="LiveId" clId="{18C638F6-798F-4644-8C09-EEFD90CA490D}" dt="2025-11-10T19:17:28.802" v="183" actId="478"/>
          <ac:spMkLst>
            <pc:docMk/>
            <pc:sldMk cId="1261648120" sldId="271"/>
            <ac:spMk id="2" creationId="{C9A2F62B-8BE5-BAB1-5B9C-A91C41C52BB0}"/>
          </ac:spMkLst>
        </pc:spChg>
        <pc:spChg chg="add mod">
          <ac:chgData name="segun balogun" userId="fc543ee26bf4ee40" providerId="LiveId" clId="{18C638F6-798F-4644-8C09-EEFD90CA490D}" dt="2025-11-10T19:18:25.257" v="191" actId="255"/>
          <ac:spMkLst>
            <pc:docMk/>
            <pc:sldMk cId="1261648120" sldId="271"/>
            <ac:spMk id="4" creationId="{5690F4FA-49CD-CA13-8864-854B9A71BA7A}"/>
          </ac:spMkLst>
        </pc:spChg>
        <pc:spChg chg="add mod">
          <ac:chgData name="segun balogun" userId="fc543ee26bf4ee40" providerId="LiveId" clId="{18C638F6-798F-4644-8C09-EEFD90CA490D}" dt="2025-11-10T19:18:54.007" v="193" actId="1076"/>
          <ac:spMkLst>
            <pc:docMk/>
            <pc:sldMk cId="1261648120" sldId="271"/>
            <ac:spMk id="7" creationId="{C0F09046-8D37-A8A4-B979-E271AE30C617}"/>
          </ac:spMkLst>
        </pc:spChg>
        <pc:spChg chg="del">
          <ac:chgData name="segun balogun" userId="fc543ee26bf4ee40" providerId="LiveId" clId="{18C638F6-798F-4644-8C09-EEFD90CA490D}" dt="2025-11-10T19:17:28.802" v="183" actId="478"/>
          <ac:spMkLst>
            <pc:docMk/>
            <pc:sldMk cId="1261648120" sldId="271"/>
            <ac:spMk id="10" creationId="{65DDC295-89F6-1D8B-7A38-BE546F7DE57B}"/>
          </ac:spMkLst>
        </pc:spChg>
        <pc:spChg chg="del mod">
          <ac:chgData name="segun balogun" userId="fc543ee26bf4ee40" providerId="LiveId" clId="{18C638F6-798F-4644-8C09-EEFD90CA490D}" dt="2025-11-10T19:17:39.754" v="185" actId="478"/>
          <ac:spMkLst>
            <pc:docMk/>
            <pc:sldMk cId="1261648120" sldId="271"/>
            <ac:spMk id="11" creationId="{ADE1C62E-1A13-C5AB-7B1B-96AE97BC1C69}"/>
          </ac:spMkLst>
        </pc:spChg>
        <pc:picChg chg="del">
          <ac:chgData name="segun balogun" userId="fc543ee26bf4ee40" providerId="LiveId" clId="{18C638F6-798F-4644-8C09-EEFD90CA490D}" dt="2025-11-10T19:17:28.802" v="183" actId="478"/>
          <ac:picMkLst>
            <pc:docMk/>
            <pc:sldMk cId="1261648120" sldId="271"/>
            <ac:picMk id="5" creationId="{C7EE8D27-37AE-DE0C-2CF5-F37D7245A63F}"/>
          </ac:picMkLst>
        </pc:picChg>
        <pc:picChg chg="del">
          <ac:chgData name="segun balogun" userId="fc543ee26bf4ee40" providerId="LiveId" clId="{18C638F6-798F-4644-8C09-EEFD90CA490D}" dt="2025-11-10T19:17:28.802" v="183" actId="478"/>
          <ac:picMkLst>
            <pc:docMk/>
            <pc:sldMk cId="1261648120" sldId="271"/>
            <ac:picMk id="6" creationId="{59D97403-F683-7763-9BBD-0B5F9A44E4F6}"/>
          </ac:picMkLst>
        </pc:picChg>
        <pc:picChg chg="del">
          <ac:chgData name="segun balogun" userId="fc543ee26bf4ee40" providerId="LiveId" clId="{18C638F6-798F-4644-8C09-EEFD90CA490D}" dt="2025-11-10T19:17:28.802" v="183" actId="478"/>
          <ac:picMkLst>
            <pc:docMk/>
            <pc:sldMk cId="1261648120" sldId="271"/>
            <ac:picMk id="8" creationId="{1F0403AF-FA45-9A44-4019-0EBE6F57B809}"/>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B77F8D-9D9A-426C-A748-E13E16CA334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C4B08A90-82F3-405B-A870-03F8078593F1}">
      <dgm:prSet custT="1"/>
      <dgm:spPr/>
      <dgm:t>
        <a:bodyPr/>
        <a:lstStyle/>
        <a:p>
          <a:r>
            <a:rPr lang="en-US" sz="1800" b="1" dirty="0"/>
            <a:t>1.</a:t>
          </a:r>
        </a:p>
        <a:p>
          <a:r>
            <a:rPr lang="en-US" sz="1100" b="1" dirty="0"/>
            <a:t>🔧 Short-Term Actions (0–3 months): Immediate Stabilization</a:t>
          </a:r>
          <a:endParaRPr lang="en-US" sz="1100" dirty="0"/>
        </a:p>
      </dgm:t>
    </dgm:pt>
    <dgm:pt modelId="{FF9F2FE4-8E2E-46D4-99C8-866FBBF9DB9E}" type="parTrans" cxnId="{799B390F-4D38-4449-A43A-5C2900BF3D78}">
      <dgm:prSet/>
      <dgm:spPr/>
      <dgm:t>
        <a:bodyPr/>
        <a:lstStyle/>
        <a:p>
          <a:endParaRPr lang="en-US"/>
        </a:p>
      </dgm:t>
    </dgm:pt>
    <dgm:pt modelId="{C9832777-46F2-445B-857E-0735A99514EB}" type="sibTrans" cxnId="{799B390F-4D38-4449-A43A-5C2900BF3D78}">
      <dgm:prSet/>
      <dgm:spPr/>
      <dgm:t>
        <a:bodyPr/>
        <a:lstStyle/>
        <a:p>
          <a:endParaRPr lang="en-US"/>
        </a:p>
      </dgm:t>
    </dgm:pt>
    <dgm:pt modelId="{8A79757A-FBE4-40AE-B836-C3917E09BB54}">
      <dgm:prSet/>
      <dgm:spPr/>
      <dgm:t>
        <a:bodyPr/>
        <a:lstStyle/>
        <a:p>
          <a:r>
            <a:rPr lang="en-US" b="1"/>
            <a:t>Resolve High-Impact Crises: Prioritize unresolved issues among VIP and returning customers, especially in top-revenue regions like Utah and Nebraska. Fast-track resolution workflows and assign dedicated support teams.</a:t>
          </a:r>
          <a:endParaRPr lang="en-US"/>
        </a:p>
      </dgm:t>
    </dgm:pt>
    <dgm:pt modelId="{19AAB9A9-98BA-41CE-9E84-A7BD93EA9B1F}" type="parTrans" cxnId="{BB6A788E-0815-431E-A429-5B5D903E9501}">
      <dgm:prSet/>
      <dgm:spPr/>
      <dgm:t>
        <a:bodyPr/>
        <a:lstStyle/>
        <a:p>
          <a:endParaRPr lang="en-US"/>
        </a:p>
      </dgm:t>
    </dgm:pt>
    <dgm:pt modelId="{54C8CF43-A41B-4E5A-9B6F-A69E3A60D80C}" type="sibTrans" cxnId="{BB6A788E-0815-431E-A429-5B5D903E9501}">
      <dgm:prSet/>
      <dgm:spPr/>
      <dgm:t>
        <a:bodyPr/>
        <a:lstStyle/>
        <a:p>
          <a:endParaRPr lang="en-US"/>
        </a:p>
      </dgm:t>
    </dgm:pt>
    <dgm:pt modelId="{FB8C8AA9-5420-4C41-B2DE-FA0F671F88F3}">
      <dgm:prSet/>
      <dgm:spPr/>
      <dgm:t>
        <a:bodyPr/>
        <a:lstStyle/>
        <a:p>
          <a:r>
            <a:rPr lang="en-US" b="1"/>
            <a:t>Reduce Response Time: Implement a rapid-response protocol to bring average resolution time below 100 days. Use auto-replies, escalation flags, and CRM alerts to triage complaints faster.</a:t>
          </a:r>
          <a:endParaRPr lang="en-US"/>
        </a:p>
      </dgm:t>
    </dgm:pt>
    <dgm:pt modelId="{FD306FF4-FB68-4877-8632-FEAC17FE455E}" type="parTrans" cxnId="{88425C8C-EF46-4218-B811-5812A03B34F6}">
      <dgm:prSet/>
      <dgm:spPr/>
      <dgm:t>
        <a:bodyPr/>
        <a:lstStyle/>
        <a:p>
          <a:endParaRPr lang="en-US"/>
        </a:p>
      </dgm:t>
    </dgm:pt>
    <dgm:pt modelId="{515188EE-CCFC-444A-8252-8127FF024B0D}" type="sibTrans" cxnId="{88425C8C-EF46-4218-B811-5812A03B34F6}">
      <dgm:prSet/>
      <dgm:spPr/>
      <dgm:t>
        <a:bodyPr/>
        <a:lstStyle/>
        <a:p>
          <a:endParaRPr lang="en-US"/>
        </a:p>
      </dgm:t>
    </dgm:pt>
    <dgm:pt modelId="{313C548D-E434-4C56-98A7-A2E788322147}">
      <dgm:prSet/>
      <dgm:spPr/>
      <dgm:t>
        <a:bodyPr/>
        <a:lstStyle/>
        <a:p>
          <a:r>
            <a:rPr lang="en-US" b="1"/>
            <a:t>Sentiment Recovery Campaigns: Launch targeted outreach to detractors (NPS 1–4) with apology messages, discounts, or loyalty incentives to rebuild goodwill and prevent churn.</a:t>
          </a:r>
          <a:endParaRPr lang="en-US"/>
        </a:p>
      </dgm:t>
    </dgm:pt>
    <dgm:pt modelId="{23B1632F-0F66-487F-B8B7-70B77ADE0684}" type="parTrans" cxnId="{9B9F9634-9149-47A3-9FC1-93C4DB80EE5B}">
      <dgm:prSet/>
      <dgm:spPr/>
      <dgm:t>
        <a:bodyPr/>
        <a:lstStyle/>
        <a:p>
          <a:endParaRPr lang="en-US"/>
        </a:p>
      </dgm:t>
    </dgm:pt>
    <dgm:pt modelId="{98D41857-FD11-4D9B-A2A9-9E58BC8CF896}" type="sibTrans" cxnId="{9B9F9634-9149-47A3-9FC1-93C4DB80EE5B}">
      <dgm:prSet/>
      <dgm:spPr/>
      <dgm:t>
        <a:bodyPr/>
        <a:lstStyle/>
        <a:p>
          <a:endParaRPr lang="en-US"/>
        </a:p>
      </dgm:t>
    </dgm:pt>
    <dgm:pt modelId="{CBA65349-5B09-44F2-97BB-F067102B3D94}">
      <dgm:prSet/>
      <dgm:spPr/>
      <dgm:t>
        <a:bodyPr/>
        <a:lstStyle/>
        <a:p>
          <a:r>
            <a:rPr lang="en-US" b="1"/>
            <a:t>Content Optimization: Focus social media efforts on high-engagement formats (images, videos) and platforms (TikTok, Instagram). Tailor messaging to middle-aged and adult segments who show both high engagement and revenue contribution.</a:t>
          </a:r>
          <a:endParaRPr lang="en-US"/>
        </a:p>
      </dgm:t>
    </dgm:pt>
    <dgm:pt modelId="{2283A2C2-BCF8-4B41-9D34-72B7C206E6B3}" type="parTrans" cxnId="{8824FE48-8ECD-44EF-A9AD-6878E3C5503A}">
      <dgm:prSet/>
      <dgm:spPr/>
      <dgm:t>
        <a:bodyPr/>
        <a:lstStyle/>
        <a:p>
          <a:endParaRPr lang="en-US"/>
        </a:p>
      </dgm:t>
    </dgm:pt>
    <dgm:pt modelId="{C238E203-2456-4686-ACDB-F051D77D899C}" type="sibTrans" cxnId="{8824FE48-8ECD-44EF-A9AD-6878E3C5503A}">
      <dgm:prSet/>
      <dgm:spPr/>
      <dgm:t>
        <a:bodyPr/>
        <a:lstStyle/>
        <a:p>
          <a:endParaRPr lang="en-US"/>
        </a:p>
      </dgm:t>
    </dgm:pt>
    <dgm:pt modelId="{260BF292-D8A6-4FA4-9F24-AFE8EE254E7A}">
      <dgm:prSet/>
      <dgm:spPr/>
      <dgm:t>
        <a:bodyPr/>
        <a:lstStyle/>
        <a:p>
          <a:r>
            <a:rPr lang="en-US" b="1"/>
            <a:t>Recall Communication Strategy: Proactively notify affected customers in high-recall regions with transparent updates and resolution timelines to mitigate reputational damage.</a:t>
          </a:r>
          <a:endParaRPr lang="en-US"/>
        </a:p>
      </dgm:t>
    </dgm:pt>
    <dgm:pt modelId="{60EB4926-2930-413D-AFE3-C939218F6E07}" type="parTrans" cxnId="{67ED981B-44A4-4623-B854-E28D59B8FAD7}">
      <dgm:prSet/>
      <dgm:spPr/>
      <dgm:t>
        <a:bodyPr/>
        <a:lstStyle/>
        <a:p>
          <a:endParaRPr lang="en-US"/>
        </a:p>
      </dgm:t>
    </dgm:pt>
    <dgm:pt modelId="{F371D22A-3648-43B1-8E76-F638325032FA}" type="sibTrans" cxnId="{67ED981B-44A4-4623-B854-E28D59B8FAD7}">
      <dgm:prSet/>
      <dgm:spPr/>
      <dgm:t>
        <a:bodyPr/>
        <a:lstStyle/>
        <a:p>
          <a:endParaRPr lang="en-US"/>
        </a:p>
      </dgm:t>
    </dgm:pt>
    <dgm:pt modelId="{47E0BEFD-3403-4BCA-8B6C-1A174D023862}">
      <dgm:prSet custT="1"/>
      <dgm:spPr/>
      <dgm:t>
        <a:bodyPr/>
        <a:lstStyle/>
        <a:p>
          <a:r>
            <a:rPr lang="en-US" sz="1800" b="1" dirty="0"/>
            <a:t>2.</a:t>
          </a:r>
        </a:p>
        <a:p>
          <a:r>
            <a:rPr lang="en-US" sz="1100" b="1" dirty="0"/>
            <a:t>🧩 Medium-Term Actions (3–9 months): Structural Improvements</a:t>
          </a:r>
          <a:endParaRPr lang="en-US" sz="1100" dirty="0"/>
        </a:p>
      </dgm:t>
    </dgm:pt>
    <dgm:pt modelId="{F1F46F50-AC67-40C6-8E82-7C02454869DF}" type="parTrans" cxnId="{764894AB-FD6B-4A0F-BCBE-91B5950E5422}">
      <dgm:prSet/>
      <dgm:spPr/>
      <dgm:t>
        <a:bodyPr/>
        <a:lstStyle/>
        <a:p>
          <a:endParaRPr lang="en-US"/>
        </a:p>
      </dgm:t>
    </dgm:pt>
    <dgm:pt modelId="{B822B388-4F6C-4DC8-9D5D-2251B4F3ECD6}" type="sibTrans" cxnId="{764894AB-FD6B-4A0F-BCBE-91B5950E5422}">
      <dgm:prSet/>
      <dgm:spPr/>
      <dgm:t>
        <a:bodyPr/>
        <a:lstStyle/>
        <a:p>
          <a:endParaRPr lang="en-US"/>
        </a:p>
      </dgm:t>
    </dgm:pt>
    <dgm:pt modelId="{044577C9-5BD3-47CB-B706-68419F5ABE27}">
      <dgm:prSet/>
      <dgm:spPr/>
      <dgm:t>
        <a:bodyPr/>
        <a:lstStyle/>
        <a:p>
          <a:r>
            <a:rPr lang="en-US" b="1"/>
            <a:t>These initiatives strengthen internal systems and customer experience.</a:t>
          </a:r>
          <a:endParaRPr lang="en-US"/>
        </a:p>
      </dgm:t>
    </dgm:pt>
    <dgm:pt modelId="{7442A2FB-15BC-43BB-A6BD-815C75128FC5}" type="parTrans" cxnId="{DDFA09F2-C019-4C5D-AF46-6DF668BA2757}">
      <dgm:prSet/>
      <dgm:spPr/>
      <dgm:t>
        <a:bodyPr/>
        <a:lstStyle/>
        <a:p>
          <a:endParaRPr lang="en-US"/>
        </a:p>
      </dgm:t>
    </dgm:pt>
    <dgm:pt modelId="{5CAAD2B4-E876-4456-9A80-F40F7A52C514}" type="sibTrans" cxnId="{DDFA09F2-C019-4C5D-AF46-6DF668BA2757}">
      <dgm:prSet/>
      <dgm:spPr/>
      <dgm:t>
        <a:bodyPr/>
        <a:lstStyle/>
        <a:p>
          <a:endParaRPr lang="en-US"/>
        </a:p>
      </dgm:t>
    </dgm:pt>
    <dgm:pt modelId="{A7A227AD-6887-47DE-8508-72416995E056}">
      <dgm:prSet/>
      <dgm:spPr/>
      <dgm:t>
        <a:bodyPr/>
        <a:lstStyle/>
        <a:p>
          <a:r>
            <a:rPr lang="en-US" b="1"/>
            <a:t>Customer Journey Mapping: Analyze pain points across the post-transaction lifecycle to identify where sentiment drops and crises emerge. Use this to redesign onboarding and support flows.</a:t>
          </a:r>
          <a:endParaRPr lang="en-US"/>
        </a:p>
      </dgm:t>
    </dgm:pt>
    <dgm:pt modelId="{D6A2C22A-C3EB-4F9D-B718-3170B92A71C9}" type="parTrans" cxnId="{91FC6624-0AB3-4F2A-A183-10E84E717D4E}">
      <dgm:prSet/>
      <dgm:spPr/>
      <dgm:t>
        <a:bodyPr/>
        <a:lstStyle/>
        <a:p>
          <a:endParaRPr lang="en-US"/>
        </a:p>
      </dgm:t>
    </dgm:pt>
    <dgm:pt modelId="{A31FF04E-7E84-46AD-8069-A48123269428}" type="sibTrans" cxnId="{91FC6624-0AB3-4F2A-A183-10E84E717D4E}">
      <dgm:prSet/>
      <dgm:spPr/>
      <dgm:t>
        <a:bodyPr/>
        <a:lstStyle/>
        <a:p>
          <a:endParaRPr lang="en-US"/>
        </a:p>
      </dgm:t>
    </dgm:pt>
    <dgm:pt modelId="{CCD2CF79-D275-4C59-BDB4-A5BD870BA95A}">
      <dgm:prSet/>
      <dgm:spPr/>
      <dgm:t>
        <a:bodyPr/>
        <a:lstStyle/>
        <a:p>
          <a:r>
            <a:rPr lang="en-US" b="1"/>
            <a:t>NPS-Driven Segmentation: Create tailored engagement strategies for promoters, passives, and detractors. Convert passives into promoters through personalized offers and feedback loops.</a:t>
          </a:r>
          <a:endParaRPr lang="en-US"/>
        </a:p>
      </dgm:t>
    </dgm:pt>
    <dgm:pt modelId="{12DCA861-C9A4-431B-92E5-FFEE9B1FC870}" type="parTrans" cxnId="{7040D024-091A-469C-A00A-3948CB867D47}">
      <dgm:prSet/>
      <dgm:spPr/>
      <dgm:t>
        <a:bodyPr/>
        <a:lstStyle/>
        <a:p>
          <a:endParaRPr lang="en-US"/>
        </a:p>
      </dgm:t>
    </dgm:pt>
    <dgm:pt modelId="{2351BBD9-111E-4B6C-B644-8C67B5F8502C}" type="sibTrans" cxnId="{7040D024-091A-469C-A00A-3948CB867D47}">
      <dgm:prSet/>
      <dgm:spPr/>
      <dgm:t>
        <a:bodyPr/>
        <a:lstStyle/>
        <a:p>
          <a:endParaRPr lang="en-US"/>
        </a:p>
      </dgm:t>
    </dgm:pt>
    <dgm:pt modelId="{F55B3136-4DAB-47DA-BEBA-43F16BC32595}">
      <dgm:prSet/>
      <dgm:spPr/>
      <dgm:t>
        <a:bodyPr/>
        <a:lstStyle/>
        <a:p>
          <a:r>
            <a:rPr lang="en-US" b="1"/>
            <a:t>Platform Diversification: Expand engagement efforts to underperforming platforms like Facebook and LinkedIn with age-specific content to reach younger demographics.</a:t>
          </a:r>
          <a:endParaRPr lang="en-US"/>
        </a:p>
      </dgm:t>
    </dgm:pt>
    <dgm:pt modelId="{6EABB008-60EE-4E82-ADF9-698F21DC0CD7}" type="parTrans" cxnId="{543D2DF5-781F-4858-A74A-7B00F2C81286}">
      <dgm:prSet/>
      <dgm:spPr/>
      <dgm:t>
        <a:bodyPr/>
        <a:lstStyle/>
        <a:p>
          <a:endParaRPr lang="en-US"/>
        </a:p>
      </dgm:t>
    </dgm:pt>
    <dgm:pt modelId="{E3BA9555-2359-4929-9771-74CD018F4169}" type="sibTrans" cxnId="{543D2DF5-781F-4858-A74A-7B00F2C81286}">
      <dgm:prSet/>
      <dgm:spPr/>
      <dgm:t>
        <a:bodyPr/>
        <a:lstStyle/>
        <a:p>
          <a:endParaRPr lang="en-US"/>
        </a:p>
      </dgm:t>
    </dgm:pt>
    <dgm:pt modelId="{56A90517-4A0D-428C-8EB7-9132A60D47B4}">
      <dgm:prSet/>
      <dgm:spPr/>
      <dgm:t>
        <a:bodyPr/>
        <a:lstStyle/>
        <a:p>
          <a:r>
            <a:rPr lang="en-US" b="1"/>
            <a:t>Regional Quality Audits: Investigate product issues in top-recall cities and implement stricter QA protocols in those supply chains.</a:t>
          </a:r>
          <a:endParaRPr lang="en-US"/>
        </a:p>
      </dgm:t>
    </dgm:pt>
    <dgm:pt modelId="{20614CC3-B228-4210-B233-DF667D908675}" type="parTrans" cxnId="{3B3673BD-BCBF-499C-9F53-7FB18E8D6A0F}">
      <dgm:prSet/>
      <dgm:spPr/>
      <dgm:t>
        <a:bodyPr/>
        <a:lstStyle/>
        <a:p>
          <a:endParaRPr lang="en-US"/>
        </a:p>
      </dgm:t>
    </dgm:pt>
    <dgm:pt modelId="{2FDBD15B-CA3F-4B88-9C3D-24BD3756FD54}" type="sibTrans" cxnId="{3B3673BD-BCBF-499C-9F53-7FB18E8D6A0F}">
      <dgm:prSet/>
      <dgm:spPr/>
      <dgm:t>
        <a:bodyPr/>
        <a:lstStyle/>
        <a:p>
          <a:endParaRPr lang="en-US"/>
        </a:p>
      </dgm:t>
    </dgm:pt>
    <dgm:pt modelId="{0CCF3CCD-8101-4D19-85BC-5814718219B6}">
      <dgm:prSet/>
      <dgm:spPr/>
      <dgm:t>
        <a:bodyPr/>
        <a:lstStyle/>
        <a:p>
          <a:r>
            <a:rPr lang="en-US" b="1"/>
            <a:t>Sentiment Monitoring System: Deploy real-time sentiment tracking across social and support channels to catch negative trends before they escalate.</a:t>
          </a:r>
          <a:endParaRPr lang="en-US"/>
        </a:p>
      </dgm:t>
    </dgm:pt>
    <dgm:pt modelId="{CDF0CC67-BCB6-4646-9530-2E8DF1C31416}" type="parTrans" cxnId="{53439ABD-C1EB-409C-B913-DC51C28C7732}">
      <dgm:prSet/>
      <dgm:spPr/>
      <dgm:t>
        <a:bodyPr/>
        <a:lstStyle/>
        <a:p>
          <a:endParaRPr lang="en-US"/>
        </a:p>
      </dgm:t>
    </dgm:pt>
    <dgm:pt modelId="{F6A8BC41-F7F0-4605-8794-7EECB05BFFDB}" type="sibTrans" cxnId="{53439ABD-C1EB-409C-B913-DC51C28C7732}">
      <dgm:prSet/>
      <dgm:spPr/>
      <dgm:t>
        <a:bodyPr/>
        <a:lstStyle/>
        <a:p>
          <a:endParaRPr lang="en-US"/>
        </a:p>
      </dgm:t>
    </dgm:pt>
    <dgm:pt modelId="{DEF480D5-3B95-4C91-AD72-C5C62969779D}">
      <dgm:prSet custT="1"/>
      <dgm:spPr/>
      <dgm:t>
        <a:bodyPr/>
        <a:lstStyle/>
        <a:p>
          <a:r>
            <a:rPr lang="en-US" sz="1800" b="1" dirty="0"/>
            <a:t>3.</a:t>
          </a:r>
        </a:p>
        <a:p>
          <a:r>
            <a:rPr lang="en-US" sz="1100" b="1" dirty="0"/>
            <a:t>🚀 Long-Term Actions (9–24 months): Strategic Growth</a:t>
          </a:r>
          <a:endParaRPr lang="en-US" sz="1100" dirty="0"/>
        </a:p>
      </dgm:t>
    </dgm:pt>
    <dgm:pt modelId="{026CB1A9-005A-40F3-A646-0310C51A7CDB}" type="parTrans" cxnId="{5ACC936C-3D4E-4453-BB37-267ACBBAEBC8}">
      <dgm:prSet/>
      <dgm:spPr/>
      <dgm:t>
        <a:bodyPr/>
        <a:lstStyle/>
        <a:p>
          <a:endParaRPr lang="en-US"/>
        </a:p>
      </dgm:t>
    </dgm:pt>
    <dgm:pt modelId="{EC872CBC-E4AD-4F6B-A922-D9740BEFA803}" type="sibTrans" cxnId="{5ACC936C-3D4E-4453-BB37-267ACBBAEBC8}">
      <dgm:prSet/>
      <dgm:spPr/>
      <dgm:t>
        <a:bodyPr/>
        <a:lstStyle/>
        <a:p>
          <a:endParaRPr lang="en-US"/>
        </a:p>
      </dgm:t>
    </dgm:pt>
    <dgm:pt modelId="{EB0C0159-6188-4C90-B6B9-A678C27C9319}">
      <dgm:prSet/>
      <dgm:spPr/>
      <dgm:t>
        <a:bodyPr/>
        <a:lstStyle/>
        <a:p>
          <a:r>
            <a:rPr lang="en-US" b="1"/>
            <a:t>These are transformative initiatives to future-proof AfriTech’s brand and revenue.</a:t>
          </a:r>
          <a:endParaRPr lang="en-US"/>
        </a:p>
      </dgm:t>
    </dgm:pt>
    <dgm:pt modelId="{AD86DB54-3497-4E78-B5D5-BE12495A95A7}" type="parTrans" cxnId="{2DCA5D58-F594-4E59-A0D8-B6A985010522}">
      <dgm:prSet/>
      <dgm:spPr/>
      <dgm:t>
        <a:bodyPr/>
        <a:lstStyle/>
        <a:p>
          <a:endParaRPr lang="en-US"/>
        </a:p>
      </dgm:t>
    </dgm:pt>
    <dgm:pt modelId="{E0EC7AE3-4A83-4D99-BE11-76BD645DD9A3}" type="sibTrans" cxnId="{2DCA5D58-F594-4E59-A0D8-B6A985010522}">
      <dgm:prSet/>
      <dgm:spPr/>
      <dgm:t>
        <a:bodyPr/>
        <a:lstStyle/>
        <a:p>
          <a:endParaRPr lang="en-US"/>
        </a:p>
      </dgm:t>
    </dgm:pt>
    <dgm:pt modelId="{ECE42CC1-F7BB-41D7-AC82-8E6647F14B22}">
      <dgm:prSet/>
      <dgm:spPr/>
      <dgm:t>
        <a:bodyPr/>
        <a:lstStyle/>
        <a:p>
          <a:r>
            <a:rPr lang="en-US" b="1"/>
            <a:t>Customer Experience Overhaul: Invest in AI-powered support systems, omnichannel service integration, and predictive complaint resolution to deliver seamless customer care.</a:t>
          </a:r>
          <a:endParaRPr lang="en-US"/>
        </a:p>
      </dgm:t>
    </dgm:pt>
    <dgm:pt modelId="{B6F00F0B-7A47-4894-9513-3BAA84D287F2}" type="parTrans" cxnId="{DF4E2A44-93B1-4B87-BB6C-E71E8DF3E097}">
      <dgm:prSet/>
      <dgm:spPr/>
      <dgm:t>
        <a:bodyPr/>
        <a:lstStyle/>
        <a:p>
          <a:endParaRPr lang="en-US"/>
        </a:p>
      </dgm:t>
    </dgm:pt>
    <dgm:pt modelId="{B332C327-1AB8-460E-8A39-57F0719D501D}" type="sibTrans" cxnId="{DF4E2A44-93B1-4B87-BB6C-E71E8DF3E097}">
      <dgm:prSet/>
      <dgm:spPr/>
      <dgm:t>
        <a:bodyPr/>
        <a:lstStyle/>
        <a:p>
          <a:endParaRPr lang="en-US"/>
        </a:p>
      </dgm:t>
    </dgm:pt>
    <dgm:pt modelId="{3B6A7601-65F3-44AC-B942-D2D116AC8358}">
      <dgm:prSet/>
      <dgm:spPr/>
      <dgm:t>
        <a:bodyPr/>
        <a:lstStyle/>
        <a:p>
          <a:r>
            <a:rPr lang="en-US" b="1"/>
            <a:t>Brand Positioning Shift: Move away from competitor-dependent visibility and build a standalone brand narrative focused on innovation, reliability, and customer empowerment.</a:t>
          </a:r>
          <a:endParaRPr lang="en-US"/>
        </a:p>
      </dgm:t>
    </dgm:pt>
    <dgm:pt modelId="{D6F99F2C-B8C8-4A80-A991-A1F089C75B96}" type="parTrans" cxnId="{506C9F88-9724-433C-9ADE-9060F362AA57}">
      <dgm:prSet/>
      <dgm:spPr/>
      <dgm:t>
        <a:bodyPr/>
        <a:lstStyle/>
        <a:p>
          <a:endParaRPr lang="en-US"/>
        </a:p>
      </dgm:t>
    </dgm:pt>
    <dgm:pt modelId="{492721EA-D96E-402D-9CED-EFCA165A45E9}" type="sibTrans" cxnId="{506C9F88-9724-433C-9ADE-9060F362AA57}">
      <dgm:prSet/>
      <dgm:spPr/>
      <dgm:t>
        <a:bodyPr/>
        <a:lstStyle/>
        <a:p>
          <a:endParaRPr lang="en-US"/>
        </a:p>
      </dgm:t>
    </dgm:pt>
    <dgm:pt modelId="{F0057736-C3D8-4D28-A0E3-51EE10D66A6D}">
      <dgm:prSet/>
      <dgm:spPr/>
      <dgm:t>
        <a:bodyPr/>
        <a:lstStyle/>
        <a:p>
          <a:r>
            <a:rPr lang="en-US" b="1"/>
            <a:t>Product Innovation &amp; Diversification: Use engagement and complaint data to inform new product development, especially for younger age groups and regions with low penetration.</a:t>
          </a:r>
          <a:endParaRPr lang="en-US"/>
        </a:p>
      </dgm:t>
    </dgm:pt>
    <dgm:pt modelId="{F9B91411-7494-4939-A8B5-3D156547AA85}" type="parTrans" cxnId="{B36011C5-B3BD-4A50-8F0D-CF00326B5BB0}">
      <dgm:prSet/>
      <dgm:spPr/>
      <dgm:t>
        <a:bodyPr/>
        <a:lstStyle/>
        <a:p>
          <a:endParaRPr lang="en-US"/>
        </a:p>
      </dgm:t>
    </dgm:pt>
    <dgm:pt modelId="{7B253046-1859-47B2-9BEE-1D8A42A7B31D}" type="sibTrans" cxnId="{B36011C5-B3BD-4A50-8F0D-CF00326B5BB0}">
      <dgm:prSet/>
      <dgm:spPr/>
      <dgm:t>
        <a:bodyPr/>
        <a:lstStyle/>
        <a:p>
          <a:endParaRPr lang="en-US"/>
        </a:p>
      </dgm:t>
    </dgm:pt>
    <dgm:pt modelId="{3887A40C-6683-4437-B432-389AF0DD1FEA}">
      <dgm:prSet/>
      <dgm:spPr/>
      <dgm:t>
        <a:bodyPr/>
        <a:lstStyle/>
        <a:p>
          <a:r>
            <a:rPr lang="en-US" b="1"/>
            <a:t>Loyalty &amp; Advocacy Programs: Formalize promoter engagement through referral incentives, ambassador programs, and exclusive access to new releases.</a:t>
          </a:r>
          <a:endParaRPr lang="en-US"/>
        </a:p>
      </dgm:t>
    </dgm:pt>
    <dgm:pt modelId="{5FD0D40A-DB1A-46E2-A455-9D428DD5C647}" type="parTrans" cxnId="{6FC6EF19-7015-4750-9278-5FF6EE6FABD7}">
      <dgm:prSet/>
      <dgm:spPr/>
      <dgm:t>
        <a:bodyPr/>
        <a:lstStyle/>
        <a:p>
          <a:endParaRPr lang="en-US"/>
        </a:p>
      </dgm:t>
    </dgm:pt>
    <dgm:pt modelId="{D4F4BC1F-68C3-418C-85F7-7AFF7517F3D4}" type="sibTrans" cxnId="{6FC6EF19-7015-4750-9278-5FF6EE6FABD7}">
      <dgm:prSet/>
      <dgm:spPr/>
      <dgm:t>
        <a:bodyPr/>
        <a:lstStyle/>
        <a:p>
          <a:endParaRPr lang="en-US"/>
        </a:p>
      </dgm:t>
    </dgm:pt>
    <dgm:pt modelId="{0D062E6C-3EFE-42B5-BEE9-F036A1A60752}">
      <dgm:prSet/>
      <dgm:spPr/>
      <dgm:t>
        <a:bodyPr/>
        <a:lstStyle/>
        <a:p>
          <a:r>
            <a:rPr lang="en-US" b="1"/>
            <a:t>Data-Driven Culture: Embed analytics into every decision-making layer—from marketing to operations—to ensure continuous feedback and agile response to market shifts.</a:t>
          </a:r>
          <a:endParaRPr lang="en-US"/>
        </a:p>
      </dgm:t>
    </dgm:pt>
    <dgm:pt modelId="{11CBEE1D-84EC-49BD-BF40-C0476FCC5539}" type="parTrans" cxnId="{C3A238D5-DFA8-49BB-B82E-FBB1B61C6F29}">
      <dgm:prSet/>
      <dgm:spPr/>
      <dgm:t>
        <a:bodyPr/>
        <a:lstStyle/>
        <a:p>
          <a:endParaRPr lang="en-US"/>
        </a:p>
      </dgm:t>
    </dgm:pt>
    <dgm:pt modelId="{B6B96EE4-EAC2-4E8D-80FD-8A2B79A3B43F}" type="sibTrans" cxnId="{C3A238D5-DFA8-49BB-B82E-FBB1B61C6F29}">
      <dgm:prSet/>
      <dgm:spPr/>
      <dgm:t>
        <a:bodyPr/>
        <a:lstStyle/>
        <a:p>
          <a:endParaRPr lang="en-US"/>
        </a:p>
      </dgm:t>
    </dgm:pt>
    <dgm:pt modelId="{07F6BC01-472B-41B1-A92B-561BF54D025C}" type="pres">
      <dgm:prSet presAssocID="{C8B77F8D-9D9A-426C-A748-E13E16CA334F}" presName="diagram" presStyleCnt="0">
        <dgm:presLayoutVars>
          <dgm:dir/>
          <dgm:resizeHandles val="exact"/>
        </dgm:presLayoutVars>
      </dgm:prSet>
      <dgm:spPr/>
    </dgm:pt>
    <dgm:pt modelId="{8239A4A8-DABB-44BB-9CEC-E748DF2109F7}" type="pres">
      <dgm:prSet presAssocID="{C4B08A90-82F3-405B-A870-03F8078593F1}" presName="node" presStyleLbl="node1" presStyleIdx="0" presStyleCnt="20">
        <dgm:presLayoutVars>
          <dgm:bulletEnabled val="1"/>
        </dgm:presLayoutVars>
      </dgm:prSet>
      <dgm:spPr/>
    </dgm:pt>
    <dgm:pt modelId="{7953EF15-ABFC-4FB6-A5E6-9AAF50A79812}" type="pres">
      <dgm:prSet presAssocID="{C9832777-46F2-445B-857E-0735A99514EB}" presName="sibTrans" presStyleCnt="0"/>
      <dgm:spPr/>
    </dgm:pt>
    <dgm:pt modelId="{405010C9-2CA4-497B-98B9-68F0F1B30E5A}" type="pres">
      <dgm:prSet presAssocID="{8A79757A-FBE4-40AE-B836-C3917E09BB54}" presName="node" presStyleLbl="node1" presStyleIdx="1" presStyleCnt="20">
        <dgm:presLayoutVars>
          <dgm:bulletEnabled val="1"/>
        </dgm:presLayoutVars>
      </dgm:prSet>
      <dgm:spPr/>
    </dgm:pt>
    <dgm:pt modelId="{66A19908-D81E-482D-A575-DCDFC70B6864}" type="pres">
      <dgm:prSet presAssocID="{54C8CF43-A41B-4E5A-9B6F-A69E3A60D80C}" presName="sibTrans" presStyleCnt="0"/>
      <dgm:spPr/>
    </dgm:pt>
    <dgm:pt modelId="{D081522B-8423-4F71-A3B6-87B55D8843A4}" type="pres">
      <dgm:prSet presAssocID="{FB8C8AA9-5420-4C41-B2DE-FA0F671F88F3}" presName="node" presStyleLbl="node1" presStyleIdx="2" presStyleCnt="20">
        <dgm:presLayoutVars>
          <dgm:bulletEnabled val="1"/>
        </dgm:presLayoutVars>
      </dgm:prSet>
      <dgm:spPr/>
    </dgm:pt>
    <dgm:pt modelId="{A499B62C-A9A6-4D32-B288-118E484939BB}" type="pres">
      <dgm:prSet presAssocID="{515188EE-CCFC-444A-8252-8127FF024B0D}" presName="sibTrans" presStyleCnt="0"/>
      <dgm:spPr/>
    </dgm:pt>
    <dgm:pt modelId="{61C71495-2DDD-4460-B01D-CA6E2782B9E9}" type="pres">
      <dgm:prSet presAssocID="{313C548D-E434-4C56-98A7-A2E788322147}" presName="node" presStyleLbl="node1" presStyleIdx="3" presStyleCnt="20">
        <dgm:presLayoutVars>
          <dgm:bulletEnabled val="1"/>
        </dgm:presLayoutVars>
      </dgm:prSet>
      <dgm:spPr/>
    </dgm:pt>
    <dgm:pt modelId="{25D6F56C-5D73-4A4E-BF3E-FA46C0330B53}" type="pres">
      <dgm:prSet presAssocID="{98D41857-FD11-4D9B-A2A9-9E58BC8CF896}" presName="sibTrans" presStyleCnt="0"/>
      <dgm:spPr/>
    </dgm:pt>
    <dgm:pt modelId="{CE9C4459-E5A7-4E3B-A0EC-65583E290328}" type="pres">
      <dgm:prSet presAssocID="{CBA65349-5B09-44F2-97BB-F067102B3D94}" presName="node" presStyleLbl="node1" presStyleIdx="4" presStyleCnt="20">
        <dgm:presLayoutVars>
          <dgm:bulletEnabled val="1"/>
        </dgm:presLayoutVars>
      </dgm:prSet>
      <dgm:spPr/>
    </dgm:pt>
    <dgm:pt modelId="{B486C180-D165-4E1F-8229-3204E88940EA}" type="pres">
      <dgm:prSet presAssocID="{C238E203-2456-4686-ACDB-F051D77D899C}" presName="sibTrans" presStyleCnt="0"/>
      <dgm:spPr/>
    </dgm:pt>
    <dgm:pt modelId="{14F19654-847D-411E-A67A-E66AE40B546C}" type="pres">
      <dgm:prSet presAssocID="{260BF292-D8A6-4FA4-9F24-AFE8EE254E7A}" presName="node" presStyleLbl="node1" presStyleIdx="5" presStyleCnt="20">
        <dgm:presLayoutVars>
          <dgm:bulletEnabled val="1"/>
        </dgm:presLayoutVars>
      </dgm:prSet>
      <dgm:spPr/>
    </dgm:pt>
    <dgm:pt modelId="{88600D58-4317-4569-8FB7-22495B449720}" type="pres">
      <dgm:prSet presAssocID="{F371D22A-3648-43B1-8E76-F638325032FA}" presName="sibTrans" presStyleCnt="0"/>
      <dgm:spPr/>
    </dgm:pt>
    <dgm:pt modelId="{EECF1AE7-9024-40A2-99D3-5712F2FA6ED4}" type="pres">
      <dgm:prSet presAssocID="{47E0BEFD-3403-4BCA-8B6C-1A174D023862}" presName="node" presStyleLbl="node1" presStyleIdx="6" presStyleCnt="20">
        <dgm:presLayoutVars>
          <dgm:bulletEnabled val="1"/>
        </dgm:presLayoutVars>
      </dgm:prSet>
      <dgm:spPr/>
    </dgm:pt>
    <dgm:pt modelId="{4FC100C2-84C0-49E8-9419-E95D32D6B72E}" type="pres">
      <dgm:prSet presAssocID="{B822B388-4F6C-4DC8-9D5D-2251B4F3ECD6}" presName="sibTrans" presStyleCnt="0"/>
      <dgm:spPr/>
    </dgm:pt>
    <dgm:pt modelId="{79E6EDDD-EF58-4FE7-A6C2-2B1E6E70D9C7}" type="pres">
      <dgm:prSet presAssocID="{044577C9-5BD3-47CB-B706-68419F5ABE27}" presName="node" presStyleLbl="node1" presStyleIdx="7" presStyleCnt="20">
        <dgm:presLayoutVars>
          <dgm:bulletEnabled val="1"/>
        </dgm:presLayoutVars>
      </dgm:prSet>
      <dgm:spPr/>
    </dgm:pt>
    <dgm:pt modelId="{4C3084D1-200D-4BC8-9A50-D8B926462EA5}" type="pres">
      <dgm:prSet presAssocID="{5CAAD2B4-E876-4456-9A80-F40F7A52C514}" presName="sibTrans" presStyleCnt="0"/>
      <dgm:spPr/>
    </dgm:pt>
    <dgm:pt modelId="{3DE4AE57-9DF6-44E0-9A76-0B5B7D8C79F4}" type="pres">
      <dgm:prSet presAssocID="{A7A227AD-6887-47DE-8508-72416995E056}" presName="node" presStyleLbl="node1" presStyleIdx="8" presStyleCnt="20">
        <dgm:presLayoutVars>
          <dgm:bulletEnabled val="1"/>
        </dgm:presLayoutVars>
      </dgm:prSet>
      <dgm:spPr/>
    </dgm:pt>
    <dgm:pt modelId="{4CC56C20-F8F3-44E2-9568-6392A7B69298}" type="pres">
      <dgm:prSet presAssocID="{A31FF04E-7E84-46AD-8069-A48123269428}" presName="sibTrans" presStyleCnt="0"/>
      <dgm:spPr/>
    </dgm:pt>
    <dgm:pt modelId="{06F549B5-AAF0-45F8-A637-1C89F924AE1D}" type="pres">
      <dgm:prSet presAssocID="{CCD2CF79-D275-4C59-BDB4-A5BD870BA95A}" presName="node" presStyleLbl="node1" presStyleIdx="9" presStyleCnt="20">
        <dgm:presLayoutVars>
          <dgm:bulletEnabled val="1"/>
        </dgm:presLayoutVars>
      </dgm:prSet>
      <dgm:spPr/>
    </dgm:pt>
    <dgm:pt modelId="{B7ED1DDF-1923-416D-847D-02475C72F388}" type="pres">
      <dgm:prSet presAssocID="{2351BBD9-111E-4B6C-B644-8C67B5F8502C}" presName="sibTrans" presStyleCnt="0"/>
      <dgm:spPr/>
    </dgm:pt>
    <dgm:pt modelId="{BFB1CD72-9028-422F-9D5C-78880C2A0538}" type="pres">
      <dgm:prSet presAssocID="{F55B3136-4DAB-47DA-BEBA-43F16BC32595}" presName="node" presStyleLbl="node1" presStyleIdx="10" presStyleCnt="20">
        <dgm:presLayoutVars>
          <dgm:bulletEnabled val="1"/>
        </dgm:presLayoutVars>
      </dgm:prSet>
      <dgm:spPr/>
    </dgm:pt>
    <dgm:pt modelId="{A2BE57DF-16F3-406A-9C75-230DDBB0D5B9}" type="pres">
      <dgm:prSet presAssocID="{E3BA9555-2359-4929-9771-74CD018F4169}" presName="sibTrans" presStyleCnt="0"/>
      <dgm:spPr/>
    </dgm:pt>
    <dgm:pt modelId="{71C6DB8C-05A9-41BF-BCFD-183EB27A26B4}" type="pres">
      <dgm:prSet presAssocID="{56A90517-4A0D-428C-8EB7-9132A60D47B4}" presName="node" presStyleLbl="node1" presStyleIdx="11" presStyleCnt="20">
        <dgm:presLayoutVars>
          <dgm:bulletEnabled val="1"/>
        </dgm:presLayoutVars>
      </dgm:prSet>
      <dgm:spPr/>
    </dgm:pt>
    <dgm:pt modelId="{39FFCADA-FB69-48CB-B8AB-823DE0E4299D}" type="pres">
      <dgm:prSet presAssocID="{2FDBD15B-CA3F-4B88-9C3D-24BD3756FD54}" presName="sibTrans" presStyleCnt="0"/>
      <dgm:spPr/>
    </dgm:pt>
    <dgm:pt modelId="{053AE63C-1677-4565-8B8D-386F8F9B3543}" type="pres">
      <dgm:prSet presAssocID="{0CCF3CCD-8101-4D19-85BC-5814718219B6}" presName="node" presStyleLbl="node1" presStyleIdx="12" presStyleCnt="20">
        <dgm:presLayoutVars>
          <dgm:bulletEnabled val="1"/>
        </dgm:presLayoutVars>
      </dgm:prSet>
      <dgm:spPr/>
    </dgm:pt>
    <dgm:pt modelId="{366C32F3-D6F2-4C21-B337-BF37916F96F9}" type="pres">
      <dgm:prSet presAssocID="{F6A8BC41-F7F0-4605-8794-7EECB05BFFDB}" presName="sibTrans" presStyleCnt="0"/>
      <dgm:spPr/>
    </dgm:pt>
    <dgm:pt modelId="{A7859AFF-7BE1-4E0D-812B-CEC9E41BCD2A}" type="pres">
      <dgm:prSet presAssocID="{DEF480D5-3B95-4C91-AD72-C5C62969779D}" presName="node" presStyleLbl="node1" presStyleIdx="13" presStyleCnt="20">
        <dgm:presLayoutVars>
          <dgm:bulletEnabled val="1"/>
        </dgm:presLayoutVars>
      </dgm:prSet>
      <dgm:spPr/>
    </dgm:pt>
    <dgm:pt modelId="{54960CF1-26D9-466E-8BFC-CE84DA0C4B01}" type="pres">
      <dgm:prSet presAssocID="{EC872CBC-E4AD-4F6B-A922-D9740BEFA803}" presName="sibTrans" presStyleCnt="0"/>
      <dgm:spPr/>
    </dgm:pt>
    <dgm:pt modelId="{A2EEA22C-8517-490B-9771-19ABEC0C5993}" type="pres">
      <dgm:prSet presAssocID="{EB0C0159-6188-4C90-B6B9-A678C27C9319}" presName="node" presStyleLbl="node1" presStyleIdx="14" presStyleCnt="20">
        <dgm:presLayoutVars>
          <dgm:bulletEnabled val="1"/>
        </dgm:presLayoutVars>
      </dgm:prSet>
      <dgm:spPr/>
    </dgm:pt>
    <dgm:pt modelId="{8480D557-0482-4DDD-A6E9-B2B1FF8281A1}" type="pres">
      <dgm:prSet presAssocID="{E0EC7AE3-4A83-4D99-BE11-76BD645DD9A3}" presName="sibTrans" presStyleCnt="0"/>
      <dgm:spPr/>
    </dgm:pt>
    <dgm:pt modelId="{EF86CBF2-360B-4FB4-9546-EE429EA38929}" type="pres">
      <dgm:prSet presAssocID="{ECE42CC1-F7BB-41D7-AC82-8E6647F14B22}" presName="node" presStyleLbl="node1" presStyleIdx="15" presStyleCnt="20">
        <dgm:presLayoutVars>
          <dgm:bulletEnabled val="1"/>
        </dgm:presLayoutVars>
      </dgm:prSet>
      <dgm:spPr/>
    </dgm:pt>
    <dgm:pt modelId="{BFAB4A8F-310C-4997-A1E0-8B643F37AF00}" type="pres">
      <dgm:prSet presAssocID="{B332C327-1AB8-460E-8A39-57F0719D501D}" presName="sibTrans" presStyleCnt="0"/>
      <dgm:spPr/>
    </dgm:pt>
    <dgm:pt modelId="{D4B8849E-D563-457A-8328-52D6FAA37A38}" type="pres">
      <dgm:prSet presAssocID="{3B6A7601-65F3-44AC-B942-D2D116AC8358}" presName="node" presStyleLbl="node1" presStyleIdx="16" presStyleCnt="20">
        <dgm:presLayoutVars>
          <dgm:bulletEnabled val="1"/>
        </dgm:presLayoutVars>
      </dgm:prSet>
      <dgm:spPr/>
    </dgm:pt>
    <dgm:pt modelId="{B0B598B3-BDC5-44F2-8C8B-13E86A34C4FA}" type="pres">
      <dgm:prSet presAssocID="{492721EA-D96E-402D-9CED-EFCA165A45E9}" presName="sibTrans" presStyleCnt="0"/>
      <dgm:spPr/>
    </dgm:pt>
    <dgm:pt modelId="{E14D390B-9236-4066-97D0-8FC572F70030}" type="pres">
      <dgm:prSet presAssocID="{F0057736-C3D8-4D28-A0E3-51EE10D66A6D}" presName="node" presStyleLbl="node1" presStyleIdx="17" presStyleCnt="20">
        <dgm:presLayoutVars>
          <dgm:bulletEnabled val="1"/>
        </dgm:presLayoutVars>
      </dgm:prSet>
      <dgm:spPr/>
    </dgm:pt>
    <dgm:pt modelId="{7DDE4BDD-D7AA-4A01-8076-C3BE4A5AC86E}" type="pres">
      <dgm:prSet presAssocID="{7B253046-1859-47B2-9BEE-1D8A42A7B31D}" presName="sibTrans" presStyleCnt="0"/>
      <dgm:spPr/>
    </dgm:pt>
    <dgm:pt modelId="{7C219149-3D79-425C-B61A-55069F9D4E9E}" type="pres">
      <dgm:prSet presAssocID="{3887A40C-6683-4437-B432-389AF0DD1FEA}" presName="node" presStyleLbl="node1" presStyleIdx="18" presStyleCnt="20">
        <dgm:presLayoutVars>
          <dgm:bulletEnabled val="1"/>
        </dgm:presLayoutVars>
      </dgm:prSet>
      <dgm:spPr/>
    </dgm:pt>
    <dgm:pt modelId="{D6364E50-78C8-41CB-B8F2-E8CEF6FC42CC}" type="pres">
      <dgm:prSet presAssocID="{D4F4BC1F-68C3-418C-85F7-7AFF7517F3D4}" presName="sibTrans" presStyleCnt="0"/>
      <dgm:spPr/>
    </dgm:pt>
    <dgm:pt modelId="{8136BC87-90F0-4F50-B246-D0F47FC527F9}" type="pres">
      <dgm:prSet presAssocID="{0D062E6C-3EFE-42B5-BEE9-F036A1A60752}" presName="node" presStyleLbl="node1" presStyleIdx="19" presStyleCnt="20">
        <dgm:presLayoutVars>
          <dgm:bulletEnabled val="1"/>
        </dgm:presLayoutVars>
      </dgm:prSet>
      <dgm:spPr/>
    </dgm:pt>
  </dgm:ptLst>
  <dgm:cxnLst>
    <dgm:cxn modelId="{F4D3750C-6D93-4135-A795-A7E39A9D3D15}" type="presOf" srcId="{DEF480D5-3B95-4C91-AD72-C5C62969779D}" destId="{A7859AFF-7BE1-4E0D-812B-CEC9E41BCD2A}" srcOrd="0" destOrd="0" presId="urn:microsoft.com/office/officeart/2005/8/layout/default"/>
    <dgm:cxn modelId="{1E33900C-D85C-4EC9-A2B2-AF56D6F4F949}" type="presOf" srcId="{0D062E6C-3EFE-42B5-BEE9-F036A1A60752}" destId="{8136BC87-90F0-4F50-B246-D0F47FC527F9}" srcOrd="0" destOrd="0" presId="urn:microsoft.com/office/officeart/2005/8/layout/default"/>
    <dgm:cxn modelId="{799B390F-4D38-4449-A43A-5C2900BF3D78}" srcId="{C8B77F8D-9D9A-426C-A748-E13E16CA334F}" destId="{C4B08A90-82F3-405B-A870-03F8078593F1}" srcOrd="0" destOrd="0" parTransId="{FF9F2FE4-8E2E-46D4-99C8-866FBBF9DB9E}" sibTransId="{C9832777-46F2-445B-857E-0735A99514EB}"/>
    <dgm:cxn modelId="{600A2C14-5180-4B8B-B339-7CD75F5839CC}" type="presOf" srcId="{8A79757A-FBE4-40AE-B836-C3917E09BB54}" destId="{405010C9-2CA4-497B-98B9-68F0F1B30E5A}" srcOrd="0" destOrd="0" presId="urn:microsoft.com/office/officeart/2005/8/layout/default"/>
    <dgm:cxn modelId="{6FC6EF19-7015-4750-9278-5FF6EE6FABD7}" srcId="{C8B77F8D-9D9A-426C-A748-E13E16CA334F}" destId="{3887A40C-6683-4437-B432-389AF0DD1FEA}" srcOrd="18" destOrd="0" parTransId="{5FD0D40A-DB1A-46E2-A455-9D428DD5C647}" sibTransId="{D4F4BC1F-68C3-418C-85F7-7AFF7517F3D4}"/>
    <dgm:cxn modelId="{67ED981B-44A4-4623-B854-E28D59B8FAD7}" srcId="{C8B77F8D-9D9A-426C-A748-E13E16CA334F}" destId="{260BF292-D8A6-4FA4-9F24-AFE8EE254E7A}" srcOrd="5" destOrd="0" parTransId="{60EB4926-2930-413D-AFE3-C939218F6E07}" sibTransId="{F371D22A-3648-43B1-8E76-F638325032FA}"/>
    <dgm:cxn modelId="{F65AC01C-A0F8-4B05-B934-4477D65D0983}" type="presOf" srcId="{C8B77F8D-9D9A-426C-A748-E13E16CA334F}" destId="{07F6BC01-472B-41B1-A92B-561BF54D025C}" srcOrd="0" destOrd="0" presId="urn:microsoft.com/office/officeart/2005/8/layout/default"/>
    <dgm:cxn modelId="{970FB422-0E1C-43F0-9746-5866D7D40DEE}" type="presOf" srcId="{C4B08A90-82F3-405B-A870-03F8078593F1}" destId="{8239A4A8-DABB-44BB-9CEC-E748DF2109F7}" srcOrd="0" destOrd="0" presId="urn:microsoft.com/office/officeart/2005/8/layout/default"/>
    <dgm:cxn modelId="{91FC6624-0AB3-4F2A-A183-10E84E717D4E}" srcId="{C8B77F8D-9D9A-426C-A748-E13E16CA334F}" destId="{A7A227AD-6887-47DE-8508-72416995E056}" srcOrd="8" destOrd="0" parTransId="{D6A2C22A-C3EB-4F9D-B718-3170B92A71C9}" sibTransId="{A31FF04E-7E84-46AD-8069-A48123269428}"/>
    <dgm:cxn modelId="{7040D024-091A-469C-A00A-3948CB867D47}" srcId="{C8B77F8D-9D9A-426C-A748-E13E16CA334F}" destId="{CCD2CF79-D275-4C59-BDB4-A5BD870BA95A}" srcOrd="9" destOrd="0" parTransId="{12DCA861-C9A4-431B-92E5-FFEE9B1FC870}" sibTransId="{2351BBD9-111E-4B6C-B644-8C67B5F8502C}"/>
    <dgm:cxn modelId="{88316D32-9210-4221-86EA-6830FE7931FB}" type="presOf" srcId="{3887A40C-6683-4437-B432-389AF0DD1FEA}" destId="{7C219149-3D79-425C-B61A-55069F9D4E9E}" srcOrd="0" destOrd="0" presId="urn:microsoft.com/office/officeart/2005/8/layout/default"/>
    <dgm:cxn modelId="{9B9F9634-9149-47A3-9FC1-93C4DB80EE5B}" srcId="{C8B77F8D-9D9A-426C-A748-E13E16CA334F}" destId="{313C548D-E434-4C56-98A7-A2E788322147}" srcOrd="3" destOrd="0" parTransId="{23B1632F-0F66-487F-B8B7-70B77ADE0684}" sibTransId="{98D41857-FD11-4D9B-A2A9-9E58BC8CF896}"/>
    <dgm:cxn modelId="{27484436-33B9-4A8E-B3D8-D511E8FDF3D1}" type="presOf" srcId="{044577C9-5BD3-47CB-B706-68419F5ABE27}" destId="{79E6EDDD-EF58-4FE7-A6C2-2B1E6E70D9C7}" srcOrd="0" destOrd="0" presId="urn:microsoft.com/office/officeart/2005/8/layout/default"/>
    <dgm:cxn modelId="{79F50D39-B3B4-4C59-A254-00EB8B48BAB6}" type="presOf" srcId="{CBA65349-5B09-44F2-97BB-F067102B3D94}" destId="{CE9C4459-E5A7-4E3B-A0EC-65583E290328}" srcOrd="0" destOrd="0" presId="urn:microsoft.com/office/officeart/2005/8/layout/default"/>
    <dgm:cxn modelId="{3B44E839-10EF-44B5-9A6C-6E7A6DC14DF0}" type="presOf" srcId="{ECE42CC1-F7BB-41D7-AC82-8E6647F14B22}" destId="{EF86CBF2-360B-4FB4-9546-EE429EA38929}" srcOrd="0" destOrd="0" presId="urn:microsoft.com/office/officeart/2005/8/layout/default"/>
    <dgm:cxn modelId="{DF4E2A44-93B1-4B87-BB6C-E71E8DF3E097}" srcId="{C8B77F8D-9D9A-426C-A748-E13E16CA334F}" destId="{ECE42CC1-F7BB-41D7-AC82-8E6647F14B22}" srcOrd="15" destOrd="0" parTransId="{B6F00F0B-7A47-4894-9513-3BAA84D287F2}" sibTransId="{B332C327-1AB8-460E-8A39-57F0719D501D}"/>
    <dgm:cxn modelId="{8824FE48-8ECD-44EF-A9AD-6878E3C5503A}" srcId="{C8B77F8D-9D9A-426C-A748-E13E16CA334F}" destId="{CBA65349-5B09-44F2-97BB-F067102B3D94}" srcOrd="4" destOrd="0" parTransId="{2283A2C2-BCF8-4B41-9D34-72B7C206E6B3}" sibTransId="{C238E203-2456-4686-ACDB-F051D77D899C}"/>
    <dgm:cxn modelId="{5ACC936C-3D4E-4453-BB37-267ACBBAEBC8}" srcId="{C8B77F8D-9D9A-426C-A748-E13E16CA334F}" destId="{DEF480D5-3B95-4C91-AD72-C5C62969779D}" srcOrd="13" destOrd="0" parTransId="{026CB1A9-005A-40F3-A646-0310C51A7CDB}" sibTransId="{EC872CBC-E4AD-4F6B-A922-D9740BEFA803}"/>
    <dgm:cxn modelId="{F6C5AA6D-11BC-4293-946F-081F018963AF}" type="presOf" srcId="{CCD2CF79-D275-4C59-BDB4-A5BD870BA95A}" destId="{06F549B5-AAF0-45F8-A637-1C89F924AE1D}" srcOrd="0" destOrd="0" presId="urn:microsoft.com/office/officeart/2005/8/layout/default"/>
    <dgm:cxn modelId="{C8225751-146C-47CA-AA58-E39BAC6CCCC4}" type="presOf" srcId="{56A90517-4A0D-428C-8EB7-9132A60D47B4}" destId="{71C6DB8C-05A9-41BF-BCFD-183EB27A26B4}" srcOrd="0" destOrd="0" presId="urn:microsoft.com/office/officeart/2005/8/layout/default"/>
    <dgm:cxn modelId="{28AD4154-9893-484C-8DD8-FE5FE096A22F}" type="presOf" srcId="{FB8C8AA9-5420-4C41-B2DE-FA0F671F88F3}" destId="{D081522B-8423-4F71-A3B6-87B55D8843A4}" srcOrd="0" destOrd="0" presId="urn:microsoft.com/office/officeart/2005/8/layout/default"/>
    <dgm:cxn modelId="{F2357957-2CB2-4E8F-9D94-24A33AB3B4EC}" type="presOf" srcId="{3B6A7601-65F3-44AC-B942-D2D116AC8358}" destId="{D4B8849E-D563-457A-8328-52D6FAA37A38}" srcOrd="0" destOrd="0" presId="urn:microsoft.com/office/officeart/2005/8/layout/default"/>
    <dgm:cxn modelId="{2DCA5D58-F594-4E59-A0D8-B6A985010522}" srcId="{C8B77F8D-9D9A-426C-A748-E13E16CA334F}" destId="{EB0C0159-6188-4C90-B6B9-A678C27C9319}" srcOrd="14" destOrd="0" parTransId="{AD86DB54-3497-4E78-B5D5-BE12495A95A7}" sibTransId="{E0EC7AE3-4A83-4D99-BE11-76BD645DD9A3}"/>
    <dgm:cxn modelId="{48D18A5A-B42E-4395-9FA0-A6BD42326AF4}" type="presOf" srcId="{EB0C0159-6188-4C90-B6B9-A678C27C9319}" destId="{A2EEA22C-8517-490B-9771-19ABEC0C5993}" srcOrd="0" destOrd="0" presId="urn:microsoft.com/office/officeart/2005/8/layout/default"/>
    <dgm:cxn modelId="{506C9F88-9724-433C-9ADE-9060F362AA57}" srcId="{C8B77F8D-9D9A-426C-A748-E13E16CA334F}" destId="{3B6A7601-65F3-44AC-B942-D2D116AC8358}" srcOrd="16" destOrd="0" parTransId="{D6F99F2C-B8C8-4A80-A991-A1F089C75B96}" sibTransId="{492721EA-D96E-402D-9CED-EFCA165A45E9}"/>
    <dgm:cxn modelId="{88425C8C-EF46-4218-B811-5812A03B34F6}" srcId="{C8B77F8D-9D9A-426C-A748-E13E16CA334F}" destId="{FB8C8AA9-5420-4C41-B2DE-FA0F671F88F3}" srcOrd="2" destOrd="0" parTransId="{FD306FF4-FB68-4877-8632-FEAC17FE455E}" sibTransId="{515188EE-CCFC-444A-8252-8127FF024B0D}"/>
    <dgm:cxn modelId="{BB6A788E-0815-431E-A429-5B5D903E9501}" srcId="{C8B77F8D-9D9A-426C-A748-E13E16CA334F}" destId="{8A79757A-FBE4-40AE-B836-C3917E09BB54}" srcOrd="1" destOrd="0" parTransId="{19AAB9A9-98BA-41CE-9E84-A7BD93EA9B1F}" sibTransId="{54C8CF43-A41B-4E5A-9B6F-A69E3A60D80C}"/>
    <dgm:cxn modelId="{E75F3C97-581F-4E8E-9827-7932CB15361E}" type="presOf" srcId="{260BF292-D8A6-4FA4-9F24-AFE8EE254E7A}" destId="{14F19654-847D-411E-A67A-E66AE40B546C}" srcOrd="0" destOrd="0" presId="urn:microsoft.com/office/officeart/2005/8/layout/default"/>
    <dgm:cxn modelId="{764894AB-FD6B-4A0F-BCBE-91B5950E5422}" srcId="{C8B77F8D-9D9A-426C-A748-E13E16CA334F}" destId="{47E0BEFD-3403-4BCA-8B6C-1A174D023862}" srcOrd="6" destOrd="0" parTransId="{F1F46F50-AC67-40C6-8E82-7C02454869DF}" sibTransId="{B822B388-4F6C-4DC8-9D5D-2251B4F3ECD6}"/>
    <dgm:cxn modelId="{3B3673BD-BCBF-499C-9F53-7FB18E8D6A0F}" srcId="{C8B77F8D-9D9A-426C-A748-E13E16CA334F}" destId="{56A90517-4A0D-428C-8EB7-9132A60D47B4}" srcOrd="11" destOrd="0" parTransId="{20614CC3-B228-4210-B233-DF667D908675}" sibTransId="{2FDBD15B-CA3F-4B88-9C3D-24BD3756FD54}"/>
    <dgm:cxn modelId="{53439ABD-C1EB-409C-B913-DC51C28C7732}" srcId="{C8B77F8D-9D9A-426C-A748-E13E16CA334F}" destId="{0CCF3CCD-8101-4D19-85BC-5814718219B6}" srcOrd="12" destOrd="0" parTransId="{CDF0CC67-BCB6-4646-9530-2E8DF1C31416}" sibTransId="{F6A8BC41-F7F0-4605-8794-7EECB05BFFDB}"/>
    <dgm:cxn modelId="{B73648C1-2E8C-4E6A-A98B-053DCECB5E85}" type="presOf" srcId="{313C548D-E434-4C56-98A7-A2E788322147}" destId="{61C71495-2DDD-4460-B01D-CA6E2782B9E9}" srcOrd="0" destOrd="0" presId="urn:microsoft.com/office/officeart/2005/8/layout/default"/>
    <dgm:cxn modelId="{B36011C5-B3BD-4A50-8F0D-CF00326B5BB0}" srcId="{C8B77F8D-9D9A-426C-A748-E13E16CA334F}" destId="{F0057736-C3D8-4D28-A0E3-51EE10D66A6D}" srcOrd="17" destOrd="0" parTransId="{F9B91411-7494-4939-A8B5-3D156547AA85}" sibTransId="{7B253046-1859-47B2-9BEE-1D8A42A7B31D}"/>
    <dgm:cxn modelId="{259FE2D2-D89E-41A2-AF1F-81749343C201}" type="presOf" srcId="{47E0BEFD-3403-4BCA-8B6C-1A174D023862}" destId="{EECF1AE7-9024-40A2-99D3-5712F2FA6ED4}" srcOrd="0" destOrd="0" presId="urn:microsoft.com/office/officeart/2005/8/layout/default"/>
    <dgm:cxn modelId="{8612E4D3-A567-49F5-8D52-DFDF52A3FAA8}" type="presOf" srcId="{A7A227AD-6887-47DE-8508-72416995E056}" destId="{3DE4AE57-9DF6-44E0-9A76-0B5B7D8C79F4}" srcOrd="0" destOrd="0" presId="urn:microsoft.com/office/officeart/2005/8/layout/default"/>
    <dgm:cxn modelId="{C3A238D5-DFA8-49BB-B82E-FBB1B61C6F29}" srcId="{C8B77F8D-9D9A-426C-A748-E13E16CA334F}" destId="{0D062E6C-3EFE-42B5-BEE9-F036A1A60752}" srcOrd="19" destOrd="0" parTransId="{11CBEE1D-84EC-49BD-BF40-C0476FCC5539}" sibTransId="{B6B96EE4-EAC2-4E8D-80FD-8A2B79A3B43F}"/>
    <dgm:cxn modelId="{2E25D3DC-3695-4820-B3D3-43E5122E7F34}" type="presOf" srcId="{0CCF3CCD-8101-4D19-85BC-5814718219B6}" destId="{053AE63C-1677-4565-8B8D-386F8F9B3543}" srcOrd="0" destOrd="0" presId="urn:microsoft.com/office/officeart/2005/8/layout/default"/>
    <dgm:cxn modelId="{70BD22E3-3CE9-4F7D-AA48-5F45D2B72FA0}" type="presOf" srcId="{F55B3136-4DAB-47DA-BEBA-43F16BC32595}" destId="{BFB1CD72-9028-422F-9D5C-78880C2A0538}" srcOrd="0" destOrd="0" presId="urn:microsoft.com/office/officeart/2005/8/layout/default"/>
    <dgm:cxn modelId="{8F6B4DED-0952-4DFF-8198-DADF199139FE}" type="presOf" srcId="{F0057736-C3D8-4D28-A0E3-51EE10D66A6D}" destId="{E14D390B-9236-4066-97D0-8FC572F70030}" srcOrd="0" destOrd="0" presId="urn:microsoft.com/office/officeart/2005/8/layout/default"/>
    <dgm:cxn modelId="{DDFA09F2-C019-4C5D-AF46-6DF668BA2757}" srcId="{C8B77F8D-9D9A-426C-A748-E13E16CA334F}" destId="{044577C9-5BD3-47CB-B706-68419F5ABE27}" srcOrd="7" destOrd="0" parTransId="{7442A2FB-15BC-43BB-A6BD-815C75128FC5}" sibTransId="{5CAAD2B4-E876-4456-9A80-F40F7A52C514}"/>
    <dgm:cxn modelId="{543D2DF5-781F-4858-A74A-7B00F2C81286}" srcId="{C8B77F8D-9D9A-426C-A748-E13E16CA334F}" destId="{F55B3136-4DAB-47DA-BEBA-43F16BC32595}" srcOrd="10" destOrd="0" parTransId="{6EABB008-60EE-4E82-ADF9-698F21DC0CD7}" sibTransId="{E3BA9555-2359-4929-9771-74CD018F4169}"/>
    <dgm:cxn modelId="{BD20A784-15B7-455F-8C90-09A2242754C7}" type="presParOf" srcId="{07F6BC01-472B-41B1-A92B-561BF54D025C}" destId="{8239A4A8-DABB-44BB-9CEC-E748DF2109F7}" srcOrd="0" destOrd="0" presId="urn:microsoft.com/office/officeart/2005/8/layout/default"/>
    <dgm:cxn modelId="{3D5C4A4D-2110-42AA-B267-BFB003EC64EF}" type="presParOf" srcId="{07F6BC01-472B-41B1-A92B-561BF54D025C}" destId="{7953EF15-ABFC-4FB6-A5E6-9AAF50A79812}" srcOrd="1" destOrd="0" presId="urn:microsoft.com/office/officeart/2005/8/layout/default"/>
    <dgm:cxn modelId="{51C52BDC-EA14-45CD-9A8B-4FD3C2A0BEA7}" type="presParOf" srcId="{07F6BC01-472B-41B1-A92B-561BF54D025C}" destId="{405010C9-2CA4-497B-98B9-68F0F1B30E5A}" srcOrd="2" destOrd="0" presId="urn:microsoft.com/office/officeart/2005/8/layout/default"/>
    <dgm:cxn modelId="{BDDDA3D5-5B57-4796-A3F9-6FDD1E68F551}" type="presParOf" srcId="{07F6BC01-472B-41B1-A92B-561BF54D025C}" destId="{66A19908-D81E-482D-A575-DCDFC70B6864}" srcOrd="3" destOrd="0" presId="urn:microsoft.com/office/officeart/2005/8/layout/default"/>
    <dgm:cxn modelId="{195609A0-EBE0-4A47-B205-DDE67591B47D}" type="presParOf" srcId="{07F6BC01-472B-41B1-A92B-561BF54D025C}" destId="{D081522B-8423-4F71-A3B6-87B55D8843A4}" srcOrd="4" destOrd="0" presId="urn:microsoft.com/office/officeart/2005/8/layout/default"/>
    <dgm:cxn modelId="{5EF617E6-1FDB-4C48-B7E2-98A427256876}" type="presParOf" srcId="{07F6BC01-472B-41B1-A92B-561BF54D025C}" destId="{A499B62C-A9A6-4D32-B288-118E484939BB}" srcOrd="5" destOrd="0" presId="urn:microsoft.com/office/officeart/2005/8/layout/default"/>
    <dgm:cxn modelId="{F2D12956-8995-45B5-8E25-36DE6C55F339}" type="presParOf" srcId="{07F6BC01-472B-41B1-A92B-561BF54D025C}" destId="{61C71495-2DDD-4460-B01D-CA6E2782B9E9}" srcOrd="6" destOrd="0" presId="urn:microsoft.com/office/officeart/2005/8/layout/default"/>
    <dgm:cxn modelId="{9291977E-1757-4F63-AA05-D2F631EE33DC}" type="presParOf" srcId="{07F6BC01-472B-41B1-A92B-561BF54D025C}" destId="{25D6F56C-5D73-4A4E-BF3E-FA46C0330B53}" srcOrd="7" destOrd="0" presId="urn:microsoft.com/office/officeart/2005/8/layout/default"/>
    <dgm:cxn modelId="{2091044F-3A8C-4581-95B0-80EFE88F22CA}" type="presParOf" srcId="{07F6BC01-472B-41B1-A92B-561BF54D025C}" destId="{CE9C4459-E5A7-4E3B-A0EC-65583E290328}" srcOrd="8" destOrd="0" presId="urn:microsoft.com/office/officeart/2005/8/layout/default"/>
    <dgm:cxn modelId="{D767D55C-E3E5-4AFA-9D24-E76FF72EE4B3}" type="presParOf" srcId="{07F6BC01-472B-41B1-A92B-561BF54D025C}" destId="{B486C180-D165-4E1F-8229-3204E88940EA}" srcOrd="9" destOrd="0" presId="urn:microsoft.com/office/officeart/2005/8/layout/default"/>
    <dgm:cxn modelId="{EFDB93FF-601B-46F8-AEDE-7C9EB43873AC}" type="presParOf" srcId="{07F6BC01-472B-41B1-A92B-561BF54D025C}" destId="{14F19654-847D-411E-A67A-E66AE40B546C}" srcOrd="10" destOrd="0" presId="urn:microsoft.com/office/officeart/2005/8/layout/default"/>
    <dgm:cxn modelId="{5792DC56-CEE4-4214-9C6C-43C0DB9938BA}" type="presParOf" srcId="{07F6BC01-472B-41B1-A92B-561BF54D025C}" destId="{88600D58-4317-4569-8FB7-22495B449720}" srcOrd="11" destOrd="0" presId="urn:microsoft.com/office/officeart/2005/8/layout/default"/>
    <dgm:cxn modelId="{78F6932C-7608-4B33-BFCC-1B8019F1969A}" type="presParOf" srcId="{07F6BC01-472B-41B1-A92B-561BF54D025C}" destId="{EECF1AE7-9024-40A2-99D3-5712F2FA6ED4}" srcOrd="12" destOrd="0" presId="urn:microsoft.com/office/officeart/2005/8/layout/default"/>
    <dgm:cxn modelId="{8B5B1BD2-82F0-4A03-AF83-16492D34CFD7}" type="presParOf" srcId="{07F6BC01-472B-41B1-A92B-561BF54D025C}" destId="{4FC100C2-84C0-49E8-9419-E95D32D6B72E}" srcOrd="13" destOrd="0" presId="urn:microsoft.com/office/officeart/2005/8/layout/default"/>
    <dgm:cxn modelId="{A406E941-9565-4821-A443-9C7066C9BCCA}" type="presParOf" srcId="{07F6BC01-472B-41B1-A92B-561BF54D025C}" destId="{79E6EDDD-EF58-4FE7-A6C2-2B1E6E70D9C7}" srcOrd="14" destOrd="0" presId="urn:microsoft.com/office/officeart/2005/8/layout/default"/>
    <dgm:cxn modelId="{A32604BE-7BB5-4225-BB57-24280D9C0F5B}" type="presParOf" srcId="{07F6BC01-472B-41B1-A92B-561BF54D025C}" destId="{4C3084D1-200D-4BC8-9A50-D8B926462EA5}" srcOrd="15" destOrd="0" presId="urn:microsoft.com/office/officeart/2005/8/layout/default"/>
    <dgm:cxn modelId="{0F0BEDFF-AE11-435B-AEFA-A5EE5DAC5B24}" type="presParOf" srcId="{07F6BC01-472B-41B1-A92B-561BF54D025C}" destId="{3DE4AE57-9DF6-44E0-9A76-0B5B7D8C79F4}" srcOrd="16" destOrd="0" presId="urn:microsoft.com/office/officeart/2005/8/layout/default"/>
    <dgm:cxn modelId="{1C2C3BE9-C902-4A57-89D0-31E7C8ADC35D}" type="presParOf" srcId="{07F6BC01-472B-41B1-A92B-561BF54D025C}" destId="{4CC56C20-F8F3-44E2-9568-6392A7B69298}" srcOrd="17" destOrd="0" presId="urn:microsoft.com/office/officeart/2005/8/layout/default"/>
    <dgm:cxn modelId="{8AD636F5-4AAE-4FB6-8D3B-24861F64802C}" type="presParOf" srcId="{07F6BC01-472B-41B1-A92B-561BF54D025C}" destId="{06F549B5-AAF0-45F8-A637-1C89F924AE1D}" srcOrd="18" destOrd="0" presId="urn:microsoft.com/office/officeart/2005/8/layout/default"/>
    <dgm:cxn modelId="{251CADEA-DADE-4782-8C3E-6A78FF730D89}" type="presParOf" srcId="{07F6BC01-472B-41B1-A92B-561BF54D025C}" destId="{B7ED1DDF-1923-416D-847D-02475C72F388}" srcOrd="19" destOrd="0" presId="urn:microsoft.com/office/officeart/2005/8/layout/default"/>
    <dgm:cxn modelId="{0FCE0D6C-86B4-4A88-910F-EC9D66C16EB0}" type="presParOf" srcId="{07F6BC01-472B-41B1-A92B-561BF54D025C}" destId="{BFB1CD72-9028-422F-9D5C-78880C2A0538}" srcOrd="20" destOrd="0" presId="urn:microsoft.com/office/officeart/2005/8/layout/default"/>
    <dgm:cxn modelId="{9AADEF8E-06EB-4631-828D-E51CEBD1D7FC}" type="presParOf" srcId="{07F6BC01-472B-41B1-A92B-561BF54D025C}" destId="{A2BE57DF-16F3-406A-9C75-230DDBB0D5B9}" srcOrd="21" destOrd="0" presId="urn:microsoft.com/office/officeart/2005/8/layout/default"/>
    <dgm:cxn modelId="{4825C208-E7C1-4C60-BBA3-E6E3ECC2BABF}" type="presParOf" srcId="{07F6BC01-472B-41B1-A92B-561BF54D025C}" destId="{71C6DB8C-05A9-41BF-BCFD-183EB27A26B4}" srcOrd="22" destOrd="0" presId="urn:microsoft.com/office/officeart/2005/8/layout/default"/>
    <dgm:cxn modelId="{EAF10C2C-7A6E-4651-A7C3-B71AB75D9D3F}" type="presParOf" srcId="{07F6BC01-472B-41B1-A92B-561BF54D025C}" destId="{39FFCADA-FB69-48CB-B8AB-823DE0E4299D}" srcOrd="23" destOrd="0" presId="urn:microsoft.com/office/officeart/2005/8/layout/default"/>
    <dgm:cxn modelId="{7BC4932C-1D0A-4637-B49A-07B07DCCE488}" type="presParOf" srcId="{07F6BC01-472B-41B1-A92B-561BF54D025C}" destId="{053AE63C-1677-4565-8B8D-386F8F9B3543}" srcOrd="24" destOrd="0" presId="urn:microsoft.com/office/officeart/2005/8/layout/default"/>
    <dgm:cxn modelId="{463E80F3-313F-47DF-925B-3C4D35F7AD94}" type="presParOf" srcId="{07F6BC01-472B-41B1-A92B-561BF54D025C}" destId="{366C32F3-D6F2-4C21-B337-BF37916F96F9}" srcOrd="25" destOrd="0" presId="urn:microsoft.com/office/officeart/2005/8/layout/default"/>
    <dgm:cxn modelId="{84066130-D5D1-40AB-8190-A7AC7964357C}" type="presParOf" srcId="{07F6BC01-472B-41B1-A92B-561BF54D025C}" destId="{A7859AFF-7BE1-4E0D-812B-CEC9E41BCD2A}" srcOrd="26" destOrd="0" presId="urn:microsoft.com/office/officeart/2005/8/layout/default"/>
    <dgm:cxn modelId="{CCD64155-A84A-4933-B9CA-0A32B4AF85FB}" type="presParOf" srcId="{07F6BC01-472B-41B1-A92B-561BF54D025C}" destId="{54960CF1-26D9-466E-8BFC-CE84DA0C4B01}" srcOrd="27" destOrd="0" presId="urn:microsoft.com/office/officeart/2005/8/layout/default"/>
    <dgm:cxn modelId="{7FCF1DE0-C91F-414A-B924-735127BC5BFC}" type="presParOf" srcId="{07F6BC01-472B-41B1-A92B-561BF54D025C}" destId="{A2EEA22C-8517-490B-9771-19ABEC0C5993}" srcOrd="28" destOrd="0" presId="urn:microsoft.com/office/officeart/2005/8/layout/default"/>
    <dgm:cxn modelId="{7A1402B2-37F9-48EA-AA1D-74E6D6A417DC}" type="presParOf" srcId="{07F6BC01-472B-41B1-A92B-561BF54D025C}" destId="{8480D557-0482-4DDD-A6E9-B2B1FF8281A1}" srcOrd="29" destOrd="0" presId="urn:microsoft.com/office/officeart/2005/8/layout/default"/>
    <dgm:cxn modelId="{78C8FA1C-4541-45EF-900F-7EF80C324D67}" type="presParOf" srcId="{07F6BC01-472B-41B1-A92B-561BF54D025C}" destId="{EF86CBF2-360B-4FB4-9546-EE429EA38929}" srcOrd="30" destOrd="0" presId="urn:microsoft.com/office/officeart/2005/8/layout/default"/>
    <dgm:cxn modelId="{A92EB36E-9317-42E0-B0EA-D8C29CAEAD5F}" type="presParOf" srcId="{07F6BC01-472B-41B1-A92B-561BF54D025C}" destId="{BFAB4A8F-310C-4997-A1E0-8B643F37AF00}" srcOrd="31" destOrd="0" presId="urn:microsoft.com/office/officeart/2005/8/layout/default"/>
    <dgm:cxn modelId="{62A0E9D4-2022-49C6-9813-6D635837D35D}" type="presParOf" srcId="{07F6BC01-472B-41B1-A92B-561BF54D025C}" destId="{D4B8849E-D563-457A-8328-52D6FAA37A38}" srcOrd="32" destOrd="0" presId="urn:microsoft.com/office/officeart/2005/8/layout/default"/>
    <dgm:cxn modelId="{C38B0003-11DC-466C-923B-BFEA388288B8}" type="presParOf" srcId="{07F6BC01-472B-41B1-A92B-561BF54D025C}" destId="{B0B598B3-BDC5-44F2-8C8B-13E86A34C4FA}" srcOrd="33" destOrd="0" presId="urn:microsoft.com/office/officeart/2005/8/layout/default"/>
    <dgm:cxn modelId="{7FE2BBEC-AEB6-42B5-B9D4-55698F913326}" type="presParOf" srcId="{07F6BC01-472B-41B1-A92B-561BF54D025C}" destId="{E14D390B-9236-4066-97D0-8FC572F70030}" srcOrd="34" destOrd="0" presId="urn:microsoft.com/office/officeart/2005/8/layout/default"/>
    <dgm:cxn modelId="{A9BBCE98-255C-43B3-805A-21E8BA936D14}" type="presParOf" srcId="{07F6BC01-472B-41B1-A92B-561BF54D025C}" destId="{7DDE4BDD-D7AA-4A01-8076-C3BE4A5AC86E}" srcOrd="35" destOrd="0" presId="urn:microsoft.com/office/officeart/2005/8/layout/default"/>
    <dgm:cxn modelId="{C12DF997-BBB7-491E-B525-88581B373959}" type="presParOf" srcId="{07F6BC01-472B-41B1-A92B-561BF54D025C}" destId="{7C219149-3D79-425C-B61A-55069F9D4E9E}" srcOrd="36" destOrd="0" presId="urn:microsoft.com/office/officeart/2005/8/layout/default"/>
    <dgm:cxn modelId="{B7FEDB17-B49E-406F-9CD3-E3D3B4EAAE65}" type="presParOf" srcId="{07F6BC01-472B-41B1-A92B-561BF54D025C}" destId="{D6364E50-78C8-41CB-B8F2-E8CEF6FC42CC}" srcOrd="37" destOrd="0" presId="urn:microsoft.com/office/officeart/2005/8/layout/default"/>
    <dgm:cxn modelId="{E377436C-4514-4E6D-83FA-88B71B657887}" type="presParOf" srcId="{07F6BC01-472B-41B1-A92B-561BF54D025C}" destId="{8136BC87-90F0-4F50-B246-D0F47FC527F9}" srcOrd="3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9A4A8-DABB-44BB-9CEC-E748DF2109F7}">
      <dsp:nvSpPr>
        <dsp:cNvPr id="0" name=""/>
        <dsp:cNvSpPr/>
      </dsp:nvSpPr>
      <dsp:spPr>
        <a:xfrm>
          <a:off x="4083" y="122681"/>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a:p>
          <a:pPr marL="0" lvl="0" indent="0" algn="ctr" defTabSz="800100">
            <a:lnSpc>
              <a:spcPct val="90000"/>
            </a:lnSpc>
            <a:spcBef>
              <a:spcPct val="0"/>
            </a:spcBef>
            <a:spcAft>
              <a:spcPct val="35000"/>
            </a:spcAft>
            <a:buNone/>
          </a:pPr>
          <a:r>
            <a:rPr lang="en-US" sz="1100" b="1" kern="1200" dirty="0"/>
            <a:t>🔧 Short-Term Actions (0–3 months): Immediate Stabilization</a:t>
          </a:r>
          <a:endParaRPr lang="en-US" sz="1100" kern="1200" dirty="0"/>
        </a:p>
      </dsp:txBody>
      <dsp:txXfrm>
        <a:off x="4083" y="122681"/>
        <a:ext cx="2210745" cy="1326447"/>
      </dsp:txXfrm>
    </dsp:sp>
    <dsp:sp modelId="{405010C9-2CA4-497B-98B9-68F0F1B30E5A}">
      <dsp:nvSpPr>
        <dsp:cNvPr id="0" name=""/>
        <dsp:cNvSpPr/>
      </dsp:nvSpPr>
      <dsp:spPr>
        <a:xfrm>
          <a:off x="2435903" y="122681"/>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Resolve High-Impact Crises: Prioritize unresolved issues among VIP and returning customers, especially in top-revenue regions like Utah and Nebraska. Fast-track resolution workflows and assign dedicated support teams.</a:t>
          </a:r>
          <a:endParaRPr lang="en-US" sz="1100" kern="1200"/>
        </a:p>
      </dsp:txBody>
      <dsp:txXfrm>
        <a:off x="2435903" y="122681"/>
        <a:ext cx="2210745" cy="1326447"/>
      </dsp:txXfrm>
    </dsp:sp>
    <dsp:sp modelId="{D081522B-8423-4F71-A3B6-87B55D8843A4}">
      <dsp:nvSpPr>
        <dsp:cNvPr id="0" name=""/>
        <dsp:cNvSpPr/>
      </dsp:nvSpPr>
      <dsp:spPr>
        <a:xfrm>
          <a:off x="4867724" y="122681"/>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Reduce Response Time: Implement a rapid-response protocol to bring average resolution time below 100 days. Use auto-replies, escalation flags, and CRM alerts to triage complaints faster.</a:t>
          </a:r>
          <a:endParaRPr lang="en-US" sz="1100" kern="1200"/>
        </a:p>
      </dsp:txBody>
      <dsp:txXfrm>
        <a:off x="4867724" y="122681"/>
        <a:ext cx="2210745" cy="1326447"/>
      </dsp:txXfrm>
    </dsp:sp>
    <dsp:sp modelId="{61C71495-2DDD-4460-B01D-CA6E2782B9E9}">
      <dsp:nvSpPr>
        <dsp:cNvPr id="0" name=""/>
        <dsp:cNvSpPr/>
      </dsp:nvSpPr>
      <dsp:spPr>
        <a:xfrm>
          <a:off x="7299544" y="122681"/>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Sentiment Recovery Campaigns: Launch targeted outreach to detractors (NPS 1–4) with apology messages, discounts, or loyalty incentives to rebuild goodwill and prevent churn.</a:t>
          </a:r>
          <a:endParaRPr lang="en-US" sz="1100" kern="1200"/>
        </a:p>
      </dsp:txBody>
      <dsp:txXfrm>
        <a:off x="7299544" y="122681"/>
        <a:ext cx="2210745" cy="1326447"/>
      </dsp:txXfrm>
    </dsp:sp>
    <dsp:sp modelId="{CE9C4459-E5A7-4E3B-A0EC-65583E290328}">
      <dsp:nvSpPr>
        <dsp:cNvPr id="0" name=""/>
        <dsp:cNvSpPr/>
      </dsp:nvSpPr>
      <dsp:spPr>
        <a:xfrm>
          <a:off x="9731364" y="122681"/>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Content Optimization: Focus social media efforts on high-engagement formats (images, videos) and platforms (TikTok, Instagram). Tailor messaging to middle-aged and adult segments who show both high engagement and revenue contribution.</a:t>
          </a:r>
          <a:endParaRPr lang="en-US" sz="1100" kern="1200"/>
        </a:p>
      </dsp:txBody>
      <dsp:txXfrm>
        <a:off x="9731364" y="122681"/>
        <a:ext cx="2210745" cy="1326447"/>
      </dsp:txXfrm>
    </dsp:sp>
    <dsp:sp modelId="{14F19654-847D-411E-A67A-E66AE40B546C}">
      <dsp:nvSpPr>
        <dsp:cNvPr id="0" name=""/>
        <dsp:cNvSpPr/>
      </dsp:nvSpPr>
      <dsp:spPr>
        <a:xfrm>
          <a:off x="4083" y="1670203"/>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Recall Communication Strategy: Proactively notify affected customers in high-recall regions with transparent updates and resolution timelines to mitigate reputational damage.</a:t>
          </a:r>
          <a:endParaRPr lang="en-US" sz="1100" kern="1200"/>
        </a:p>
      </dsp:txBody>
      <dsp:txXfrm>
        <a:off x="4083" y="1670203"/>
        <a:ext cx="2210745" cy="1326447"/>
      </dsp:txXfrm>
    </dsp:sp>
    <dsp:sp modelId="{EECF1AE7-9024-40A2-99D3-5712F2FA6ED4}">
      <dsp:nvSpPr>
        <dsp:cNvPr id="0" name=""/>
        <dsp:cNvSpPr/>
      </dsp:nvSpPr>
      <dsp:spPr>
        <a:xfrm>
          <a:off x="2435903" y="1670203"/>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p>
        <a:p>
          <a:pPr marL="0" lvl="0" indent="0" algn="ctr" defTabSz="800100">
            <a:lnSpc>
              <a:spcPct val="90000"/>
            </a:lnSpc>
            <a:spcBef>
              <a:spcPct val="0"/>
            </a:spcBef>
            <a:spcAft>
              <a:spcPct val="35000"/>
            </a:spcAft>
            <a:buNone/>
          </a:pPr>
          <a:r>
            <a:rPr lang="en-US" sz="1100" b="1" kern="1200" dirty="0"/>
            <a:t>🧩 Medium-Term Actions (3–9 months): Structural Improvements</a:t>
          </a:r>
          <a:endParaRPr lang="en-US" sz="1100" kern="1200" dirty="0"/>
        </a:p>
      </dsp:txBody>
      <dsp:txXfrm>
        <a:off x="2435903" y="1670203"/>
        <a:ext cx="2210745" cy="1326447"/>
      </dsp:txXfrm>
    </dsp:sp>
    <dsp:sp modelId="{79E6EDDD-EF58-4FE7-A6C2-2B1E6E70D9C7}">
      <dsp:nvSpPr>
        <dsp:cNvPr id="0" name=""/>
        <dsp:cNvSpPr/>
      </dsp:nvSpPr>
      <dsp:spPr>
        <a:xfrm>
          <a:off x="4867724" y="1670203"/>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These initiatives strengthen internal systems and customer experience.</a:t>
          </a:r>
          <a:endParaRPr lang="en-US" sz="1100" kern="1200"/>
        </a:p>
      </dsp:txBody>
      <dsp:txXfrm>
        <a:off x="4867724" y="1670203"/>
        <a:ext cx="2210745" cy="1326447"/>
      </dsp:txXfrm>
    </dsp:sp>
    <dsp:sp modelId="{3DE4AE57-9DF6-44E0-9A76-0B5B7D8C79F4}">
      <dsp:nvSpPr>
        <dsp:cNvPr id="0" name=""/>
        <dsp:cNvSpPr/>
      </dsp:nvSpPr>
      <dsp:spPr>
        <a:xfrm>
          <a:off x="7299544" y="1670203"/>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Customer Journey Mapping: Analyze pain points across the post-transaction lifecycle to identify where sentiment drops and crises emerge. Use this to redesign onboarding and support flows.</a:t>
          </a:r>
          <a:endParaRPr lang="en-US" sz="1100" kern="1200"/>
        </a:p>
      </dsp:txBody>
      <dsp:txXfrm>
        <a:off x="7299544" y="1670203"/>
        <a:ext cx="2210745" cy="1326447"/>
      </dsp:txXfrm>
    </dsp:sp>
    <dsp:sp modelId="{06F549B5-AAF0-45F8-A637-1C89F924AE1D}">
      <dsp:nvSpPr>
        <dsp:cNvPr id="0" name=""/>
        <dsp:cNvSpPr/>
      </dsp:nvSpPr>
      <dsp:spPr>
        <a:xfrm>
          <a:off x="9731364" y="1670203"/>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NPS-Driven Segmentation: Create tailored engagement strategies for promoters, passives, and detractors. Convert passives into promoters through personalized offers and feedback loops.</a:t>
          </a:r>
          <a:endParaRPr lang="en-US" sz="1100" kern="1200"/>
        </a:p>
      </dsp:txBody>
      <dsp:txXfrm>
        <a:off x="9731364" y="1670203"/>
        <a:ext cx="2210745" cy="1326447"/>
      </dsp:txXfrm>
    </dsp:sp>
    <dsp:sp modelId="{BFB1CD72-9028-422F-9D5C-78880C2A0538}">
      <dsp:nvSpPr>
        <dsp:cNvPr id="0" name=""/>
        <dsp:cNvSpPr/>
      </dsp:nvSpPr>
      <dsp:spPr>
        <a:xfrm>
          <a:off x="4083" y="3217725"/>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Platform Diversification: Expand engagement efforts to underperforming platforms like Facebook and LinkedIn with age-specific content to reach younger demographics.</a:t>
          </a:r>
          <a:endParaRPr lang="en-US" sz="1100" kern="1200"/>
        </a:p>
      </dsp:txBody>
      <dsp:txXfrm>
        <a:off x="4083" y="3217725"/>
        <a:ext cx="2210745" cy="1326447"/>
      </dsp:txXfrm>
    </dsp:sp>
    <dsp:sp modelId="{71C6DB8C-05A9-41BF-BCFD-183EB27A26B4}">
      <dsp:nvSpPr>
        <dsp:cNvPr id="0" name=""/>
        <dsp:cNvSpPr/>
      </dsp:nvSpPr>
      <dsp:spPr>
        <a:xfrm>
          <a:off x="2435903" y="3217725"/>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Regional Quality Audits: Investigate product issues in top-recall cities and implement stricter QA protocols in those supply chains.</a:t>
          </a:r>
          <a:endParaRPr lang="en-US" sz="1100" kern="1200"/>
        </a:p>
      </dsp:txBody>
      <dsp:txXfrm>
        <a:off x="2435903" y="3217725"/>
        <a:ext cx="2210745" cy="1326447"/>
      </dsp:txXfrm>
    </dsp:sp>
    <dsp:sp modelId="{053AE63C-1677-4565-8B8D-386F8F9B3543}">
      <dsp:nvSpPr>
        <dsp:cNvPr id="0" name=""/>
        <dsp:cNvSpPr/>
      </dsp:nvSpPr>
      <dsp:spPr>
        <a:xfrm>
          <a:off x="4867724" y="3217725"/>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Sentiment Monitoring System: Deploy real-time sentiment tracking across social and support channels to catch negative trends before they escalate.</a:t>
          </a:r>
          <a:endParaRPr lang="en-US" sz="1100" kern="1200"/>
        </a:p>
      </dsp:txBody>
      <dsp:txXfrm>
        <a:off x="4867724" y="3217725"/>
        <a:ext cx="2210745" cy="1326447"/>
      </dsp:txXfrm>
    </dsp:sp>
    <dsp:sp modelId="{A7859AFF-7BE1-4E0D-812B-CEC9E41BCD2A}">
      <dsp:nvSpPr>
        <dsp:cNvPr id="0" name=""/>
        <dsp:cNvSpPr/>
      </dsp:nvSpPr>
      <dsp:spPr>
        <a:xfrm>
          <a:off x="7299544" y="3217725"/>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3.</a:t>
          </a:r>
        </a:p>
        <a:p>
          <a:pPr marL="0" lvl="0" indent="0" algn="ctr" defTabSz="800100">
            <a:lnSpc>
              <a:spcPct val="90000"/>
            </a:lnSpc>
            <a:spcBef>
              <a:spcPct val="0"/>
            </a:spcBef>
            <a:spcAft>
              <a:spcPct val="35000"/>
            </a:spcAft>
            <a:buNone/>
          </a:pPr>
          <a:r>
            <a:rPr lang="en-US" sz="1100" b="1" kern="1200" dirty="0"/>
            <a:t>🚀 Long-Term Actions (9–24 months): Strategic Growth</a:t>
          </a:r>
          <a:endParaRPr lang="en-US" sz="1100" kern="1200" dirty="0"/>
        </a:p>
      </dsp:txBody>
      <dsp:txXfrm>
        <a:off x="7299544" y="3217725"/>
        <a:ext cx="2210745" cy="1326447"/>
      </dsp:txXfrm>
    </dsp:sp>
    <dsp:sp modelId="{A2EEA22C-8517-490B-9771-19ABEC0C5993}">
      <dsp:nvSpPr>
        <dsp:cNvPr id="0" name=""/>
        <dsp:cNvSpPr/>
      </dsp:nvSpPr>
      <dsp:spPr>
        <a:xfrm>
          <a:off x="9731364" y="3217725"/>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These are transformative initiatives to future-proof AfriTech’s brand and revenue.</a:t>
          </a:r>
          <a:endParaRPr lang="en-US" sz="1100" kern="1200"/>
        </a:p>
      </dsp:txBody>
      <dsp:txXfrm>
        <a:off x="9731364" y="3217725"/>
        <a:ext cx="2210745" cy="1326447"/>
      </dsp:txXfrm>
    </dsp:sp>
    <dsp:sp modelId="{EF86CBF2-360B-4FB4-9546-EE429EA38929}">
      <dsp:nvSpPr>
        <dsp:cNvPr id="0" name=""/>
        <dsp:cNvSpPr/>
      </dsp:nvSpPr>
      <dsp:spPr>
        <a:xfrm>
          <a:off x="4083" y="4765247"/>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Customer Experience Overhaul: Invest in AI-powered support systems, omnichannel service integration, and predictive complaint resolution to deliver seamless customer care.</a:t>
          </a:r>
          <a:endParaRPr lang="en-US" sz="1100" kern="1200"/>
        </a:p>
      </dsp:txBody>
      <dsp:txXfrm>
        <a:off x="4083" y="4765247"/>
        <a:ext cx="2210745" cy="1326447"/>
      </dsp:txXfrm>
    </dsp:sp>
    <dsp:sp modelId="{D4B8849E-D563-457A-8328-52D6FAA37A38}">
      <dsp:nvSpPr>
        <dsp:cNvPr id="0" name=""/>
        <dsp:cNvSpPr/>
      </dsp:nvSpPr>
      <dsp:spPr>
        <a:xfrm>
          <a:off x="2435903" y="4765247"/>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Brand Positioning Shift: Move away from competitor-dependent visibility and build a standalone brand narrative focused on innovation, reliability, and customer empowerment.</a:t>
          </a:r>
          <a:endParaRPr lang="en-US" sz="1100" kern="1200"/>
        </a:p>
      </dsp:txBody>
      <dsp:txXfrm>
        <a:off x="2435903" y="4765247"/>
        <a:ext cx="2210745" cy="1326447"/>
      </dsp:txXfrm>
    </dsp:sp>
    <dsp:sp modelId="{E14D390B-9236-4066-97D0-8FC572F70030}">
      <dsp:nvSpPr>
        <dsp:cNvPr id="0" name=""/>
        <dsp:cNvSpPr/>
      </dsp:nvSpPr>
      <dsp:spPr>
        <a:xfrm>
          <a:off x="4867724" y="4765247"/>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Product Innovation &amp; Diversification: Use engagement and complaint data to inform new product development, especially for younger age groups and regions with low penetration.</a:t>
          </a:r>
          <a:endParaRPr lang="en-US" sz="1100" kern="1200"/>
        </a:p>
      </dsp:txBody>
      <dsp:txXfrm>
        <a:off x="4867724" y="4765247"/>
        <a:ext cx="2210745" cy="1326447"/>
      </dsp:txXfrm>
    </dsp:sp>
    <dsp:sp modelId="{7C219149-3D79-425C-B61A-55069F9D4E9E}">
      <dsp:nvSpPr>
        <dsp:cNvPr id="0" name=""/>
        <dsp:cNvSpPr/>
      </dsp:nvSpPr>
      <dsp:spPr>
        <a:xfrm>
          <a:off x="7299544" y="4765247"/>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Loyalty &amp; Advocacy Programs: Formalize promoter engagement through referral incentives, ambassador programs, and exclusive access to new releases.</a:t>
          </a:r>
          <a:endParaRPr lang="en-US" sz="1100" kern="1200"/>
        </a:p>
      </dsp:txBody>
      <dsp:txXfrm>
        <a:off x="7299544" y="4765247"/>
        <a:ext cx="2210745" cy="1326447"/>
      </dsp:txXfrm>
    </dsp:sp>
    <dsp:sp modelId="{8136BC87-90F0-4F50-B246-D0F47FC527F9}">
      <dsp:nvSpPr>
        <dsp:cNvPr id="0" name=""/>
        <dsp:cNvSpPr/>
      </dsp:nvSpPr>
      <dsp:spPr>
        <a:xfrm>
          <a:off x="9731364" y="4765247"/>
          <a:ext cx="2210745" cy="13264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Data-Driven Culture: Embed analytics into every decision-making layer—from marketing to operations—to ensure continuous feedback and agile response to market shifts.</a:t>
          </a:r>
          <a:endParaRPr lang="en-US" sz="1100" kern="1200"/>
        </a:p>
      </dsp:txBody>
      <dsp:txXfrm>
        <a:off x="9731364" y="4765247"/>
        <a:ext cx="2210745" cy="132644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0AB53B-4184-40BD-9119-7EB15D75B1E6}" type="datetimeFigureOut">
              <a:rPr lang="en-GB" smtClean="0"/>
              <a:t>10/11/2025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2DD34-41B3-449D-92A8-3B85ACFF9080}" type="slidenum">
              <a:rPr lang="en-GB" smtClean="0"/>
              <a:t>‹#›</a:t>
            </a:fld>
            <a:endParaRPr lang="en-GB"/>
          </a:p>
        </p:txBody>
      </p:sp>
    </p:spTree>
    <p:extLst>
      <p:ext uri="{BB962C8B-B14F-4D97-AF65-F5344CB8AC3E}">
        <p14:creationId xmlns:p14="http://schemas.microsoft.com/office/powerpoint/2010/main" val="455840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142DD34-41B3-449D-92A8-3B85ACFF9080}" type="slidenum">
              <a:rPr lang="en-GB" smtClean="0"/>
              <a:t>3</a:t>
            </a:fld>
            <a:endParaRPr lang="en-GB"/>
          </a:p>
        </p:txBody>
      </p:sp>
    </p:spTree>
    <p:extLst>
      <p:ext uri="{BB962C8B-B14F-4D97-AF65-F5344CB8AC3E}">
        <p14:creationId xmlns:p14="http://schemas.microsoft.com/office/powerpoint/2010/main" val="571545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9540D-759D-3CDB-2863-042B73B5D4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E5E3938-4B7C-0955-95AE-E3ED4400DB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A7D71F0-724A-EEFA-2A35-422F08B9A2DB}"/>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5" name="Footer Placeholder 4">
            <a:extLst>
              <a:ext uri="{FF2B5EF4-FFF2-40B4-BE49-F238E27FC236}">
                <a16:creationId xmlns:a16="http://schemas.microsoft.com/office/drawing/2014/main" id="{F0E5709E-FD85-E655-9FBC-E8B30354C7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9D224C-55E7-9522-69DE-4E5C3F55A3B8}"/>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702778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B2C7C-E718-768C-1ADE-F09BCEB6C93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C5B6F11-0EEF-36D0-C83E-96E709BC32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6BA0401-07CB-7527-F485-A4159D3F7CB5}"/>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5" name="Footer Placeholder 4">
            <a:extLst>
              <a:ext uri="{FF2B5EF4-FFF2-40B4-BE49-F238E27FC236}">
                <a16:creationId xmlns:a16="http://schemas.microsoft.com/office/drawing/2014/main" id="{2E05221B-FE82-8200-B820-5E866CC974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428A4D-8AC6-59E3-81F6-E19B39DD9993}"/>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1440230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623DD-9EDB-0CD2-72C1-835FFBAC68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CFE054D-086C-0BC8-591D-C6FA8F32D5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482DCA-0787-963B-D908-8AFEAD2B861F}"/>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5" name="Footer Placeholder 4">
            <a:extLst>
              <a:ext uri="{FF2B5EF4-FFF2-40B4-BE49-F238E27FC236}">
                <a16:creationId xmlns:a16="http://schemas.microsoft.com/office/drawing/2014/main" id="{602998B6-3E6F-EFA2-54C1-66FA27DE7E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432942-453E-E128-A574-F0BA30C775A4}"/>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4189378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3AECE-896F-6603-AAD7-218AD4DE0D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7491891-BF51-F0BE-FA14-2C32498D83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0DAC964-DA61-3847-9297-F4EF088FF6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8593E2A-3FDD-0B6B-90D5-B20F49EC75CB}"/>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6" name="Footer Placeholder 5">
            <a:extLst>
              <a:ext uri="{FF2B5EF4-FFF2-40B4-BE49-F238E27FC236}">
                <a16:creationId xmlns:a16="http://schemas.microsoft.com/office/drawing/2014/main" id="{67AF345F-6F00-6ABB-8C03-F6BA6512183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E9CF69E-E6E0-F416-0CB2-DDE52AD5BFDA}"/>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110457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F68B8-AC0A-EACA-BB04-16B774A4F84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96FBA02-41DC-AC3E-C7F5-FAF6217674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574997-633B-3A01-071A-1CB33B5FD5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68CC43C-C3C6-124D-F83C-D6BFD86205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45B18B-5206-75DE-0DAE-94D16E52BD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FD15613-BCB8-3020-EF2E-AD307EAE61A1}"/>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8" name="Footer Placeholder 7">
            <a:extLst>
              <a:ext uri="{FF2B5EF4-FFF2-40B4-BE49-F238E27FC236}">
                <a16:creationId xmlns:a16="http://schemas.microsoft.com/office/drawing/2014/main" id="{8852F92D-F6A5-AA31-B9D3-AA507099B2A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9AEF115-CE5B-6F0F-3BDB-F8F348294D76}"/>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446474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EDD7C-689B-0075-4733-F60BE44E4DC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D57FB96-0F56-B84B-FF98-70B1161D48EE}"/>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4" name="Footer Placeholder 3">
            <a:extLst>
              <a:ext uri="{FF2B5EF4-FFF2-40B4-BE49-F238E27FC236}">
                <a16:creationId xmlns:a16="http://schemas.microsoft.com/office/drawing/2014/main" id="{FD2A1274-58CF-556F-AC4E-5FC4B3535D4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631F5AC-86C2-A8E5-A643-9B93ECBE89D5}"/>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2837768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31C184-496D-D835-00C0-727CBB59BBDA}"/>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3" name="Footer Placeholder 2">
            <a:extLst>
              <a:ext uri="{FF2B5EF4-FFF2-40B4-BE49-F238E27FC236}">
                <a16:creationId xmlns:a16="http://schemas.microsoft.com/office/drawing/2014/main" id="{FF6F7BC4-B111-1AD1-7837-9F4A47EF8CA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A548A8E-3F3F-00BB-AF3C-72AE7968AF54}"/>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173979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26B76-D6C1-734C-FEC0-C5E346B829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F6716B4-BB60-B92E-ADEA-A38AAAB8D6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EE78E39-DD06-E904-A5DF-6B7CC7ABC1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CD5F6F-A97A-F654-720F-51B0ADAE9C4B}"/>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6" name="Footer Placeholder 5">
            <a:extLst>
              <a:ext uri="{FF2B5EF4-FFF2-40B4-BE49-F238E27FC236}">
                <a16:creationId xmlns:a16="http://schemas.microsoft.com/office/drawing/2014/main" id="{0E9FE6AF-47E5-FB53-5739-C79D02A641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0F80CDF-7926-49F5-CA45-D6408821B96A}"/>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19688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E2A2-1B82-EDE7-69FC-EF547D3227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884C1F0-0CFF-E3D3-753C-94EFF2496B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70FF497-6B9B-2852-D016-72E63BD19C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D10675-AF01-6754-0601-BBBA75F95CF5}"/>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6" name="Footer Placeholder 5">
            <a:extLst>
              <a:ext uri="{FF2B5EF4-FFF2-40B4-BE49-F238E27FC236}">
                <a16:creationId xmlns:a16="http://schemas.microsoft.com/office/drawing/2014/main" id="{18581004-C3C7-574F-21B8-5383AC7A371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AB58FB-ADEF-6BEC-2A3B-16AB786D0661}"/>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1137248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58365-8533-EB39-E12E-248279E132E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2142242-A366-D75E-9018-159DE49150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C035C62-352A-A853-0E63-3E3DDFF56A10}"/>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5" name="Footer Placeholder 4">
            <a:extLst>
              <a:ext uri="{FF2B5EF4-FFF2-40B4-BE49-F238E27FC236}">
                <a16:creationId xmlns:a16="http://schemas.microsoft.com/office/drawing/2014/main" id="{DE269BD2-7673-5D3E-3F8E-2BA7EA228A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39C795-4B30-2777-BE23-BED70BF379EA}"/>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3140327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5281A7-404E-9AA5-213C-ED786A2AF2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6F5268E-0DF0-91B9-81C8-2428C65CC9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60332B-4381-FF74-3687-281FBB5488A2}"/>
              </a:ext>
            </a:extLst>
          </p:cNvPr>
          <p:cNvSpPr>
            <a:spLocks noGrp="1"/>
          </p:cNvSpPr>
          <p:nvPr>
            <p:ph type="dt" sz="half" idx="10"/>
          </p:nvPr>
        </p:nvSpPr>
        <p:spPr/>
        <p:txBody>
          <a:bodyPr/>
          <a:lstStyle/>
          <a:p>
            <a:fld id="{2C6D804C-22BB-4A9A-86AA-042866A58EC8}" type="datetimeFigureOut">
              <a:rPr lang="en-GB" smtClean="0"/>
              <a:t>10/11/2025</a:t>
            </a:fld>
            <a:endParaRPr lang="en-GB"/>
          </a:p>
        </p:txBody>
      </p:sp>
      <p:sp>
        <p:nvSpPr>
          <p:cNvPr id="5" name="Footer Placeholder 4">
            <a:extLst>
              <a:ext uri="{FF2B5EF4-FFF2-40B4-BE49-F238E27FC236}">
                <a16:creationId xmlns:a16="http://schemas.microsoft.com/office/drawing/2014/main" id="{16E95620-C38D-08B2-674D-D2616A6BCE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BBE5AE8-C78D-FED4-1813-E938FBDDAF30}"/>
              </a:ext>
            </a:extLst>
          </p:cNvPr>
          <p:cNvSpPr>
            <a:spLocks noGrp="1"/>
          </p:cNvSpPr>
          <p:nvPr>
            <p:ph type="sldNum" sz="quarter" idx="12"/>
          </p:nvPr>
        </p:nvSpPr>
        <p:spPr/>
        <p:txBody>
          <a:bodyPr/>
          <a:lstStyle/>
          <a:p>
            <a:fld id="{7CAA7953-3857-478F-8967-EC98A2578954}" type="slidenum">
              <a:rPr lang="en-GB" smtClean="0"/>
              <a:t>‹#›</a:t>
            </a:fld>
            <a:endParaRPr lang="en-GB"/>
          </a:p>
        </p:txBody>
      </p:sp>
    </p:spTree>
    <p:extLst>
      <p:ext uri="{BB962C8B-B14F-4D97-AF65-F5344CB8AC3E}">
        <p14:creationId xmlns:p14="http://schemas.microsoft.com/office/powerpoint/2010/main" val="3640806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C6A721-FE5F-FF9B-5871-B068AE46F0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2C6D2FB-FE88-0B9E-D04E-9FF4F6D5D0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BD0B7C1-EDF2-A9A2-405A-4329373B74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6D804C-22BB-4A9A-86AA-042866A58EC8}" type="datetimeFigureOut">
              <a:rPr lang="en-GB" smtClean="0"/>
              <a:t>10/11/2025</a:t>
            </a:fld>
            <a:endParaRPr lang="en-GB"/>
          </a:p>
        </p:txBody>
      </p:sp>
      <p:sp>
        <p:nvSpPr>
          <p:cNvPr id="5" name="Footer Placeholder 4">
            <a:extLst>
              <a:ext uri="{FF2B5EF4-FFF2-40B4-BE49-F238E27FC236}">
                <a16:creationId xmlns:a16="http://schemas.microsoft.com/office/drawing/2014/main" id="{FA39F6D1-F58B-43A3-4264-DB671B008E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593EDCF-76C8-6495-3B4D-59DCE5E4E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AA7953-3857-478F-8967-EC98A2578954}" type="slidenum">
              <a:rPr lang="en-GB" smtClean="0"/>
              <a:t>‹#›</a:t>
            </a:fld>
            <a:endParaRPr lang="en-GB"/>
          </a:p>
        </p:txBody>
      </p:sp>
    </p:spTree>
    <p:extLst>
      <p:ext uri="{BB962C8B-B14F-4D97-AF65-F5344CB8AC3E}">
        <p14:creationId xmlns:p14="http://schemas.microsoft.com/office/powerpoint/2010/main" val="2236185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7" name="Freeform: Shape 56">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9" name="Freeform: Shape 58">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E388286-41E9-48E9-548D-DB725613B8D8}"/>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400" kern="1200">
                <a:solidFill>
                  <a:schemeClr val="tx1"/>
                </a:solidFill>
                <a:latin typeface="+mj-lt"/>
                <a:ea typeface="+mj-ea"/>
                <a:cs typeface="+mj-cs"/>
              </a:rPr>
              <a:t>Developing an Intelligent Social Media Monitoring System to Strengthen</a:t>
            </a:r>
          </a:p>
          <a:p>
            <a:pPr>
              <a:lnSpc>
                <a:spcPct val="90000"/>
              </a:lnSpc>
              <a:spcBef>
                <a:spcPct val="0"/>
              </a:spcBef>
              <a:spcAft>
                <a:spcPts val="600"/>
              </a:spcAft>
            </a:pPr>
            <a:r>
              <a:rPr lang="en-US" sz="3400" kern="1200">
                <a:solidFill>
                  <a:schemeClr val="tx1"/>
                </a:solidFill>
                <a:latin typeface="+mj-lt"/>
                <a:ea typeface="+mj-ea"/>
                <a:cs typeface="+mj-cs"/>
              </a:rPr>
              <a:t>Afritech’s Brand Reputation</a:t>
            </a:r>
          </a:p>
        </p:txBody>
      </p:sp>
      <p:sp>
        <p:nvSpPr>
          <p:cNvPr id="5" name="TextBox 4">
            <a:extLst>
              <a:ext uri="{FF2B5EF4-FFF2-40B4-BE49-F238E27FC236}">
                <a16:creationId xmlns:a16="http://schemas.microsoft.com/office/drawing/2014/main" id="{53772D6E-CB15-7155-524E-18BA9EFDBF00}"/>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pPr>
            <a:r>
              <a:rPr lang="en-US" sz="2000" kern="1200">
                <a:solidFill>
                  <a:schemeClr val="tx1"/>
                </a:solidFill>
                <a:latin typeface="+mn-lt"/>
                <a:ea typeface="+mn-ea"/>
                <a:cs typeface="+mn-cs"/>
              </a:rPr>
              <a:t>Segun Balogun</a:t>
            </a:r>
          </a:p>
        </p:txBody>
      </p:sp>
      <p:sp>
        <p:nvSpPr>
          <p:cNvPr id="61" name="Rectangle 6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3" name="Rectangle 6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0" name="Picture 49" descr="A blue text on a black background&#10;&#10;AI-generated content may be incorrect.">
            <a:extLst>
              <a:ext uri="{FF2B5EF4-FFF2-40B4-BE49-F238E27FC236}">
                <a16:creationId xmlns:a16="http://schemas.microsoft.com/office/drawing/2014/main" id="{EE1FEB6A-F9D5-E681-B44F-8762B06E4F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4356" y="2576303"/>
            <a:ext cx="6408836" cy="1554142"/>
          </a:xfrm>
          <a:prstGeom prst="rect">
            <a:avLst/>
          </a:prstGeom>
          <a:solidFill>
            <a:schemeClr val="bg1"/>
          </a:solidFill>
        </p:spPr>
      </p:pic>
    </p:spTree>
    <p:extLst>
      <p:ext uri="{BB962C8B-B14F-4D97-AF65-F5344CB8AC3E}">
        <p14:creationId xmlns:p14="http://schemas.microsoft.com/office/powerpoint/2010/main" val="3579247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4E2153-3A2A-54BE-1F4A-49876DEDDF9D}"/>
              </a:ext>
            </a:extLst>
          </p:cNvPr>
          <p:cNvSpPr txBox="1"/>
          <p:nvPr/>
        </p:nvSpPr>
        <p:spPr>
          <a:xfrm>
            <a:off x="6417733" y="1622323"/>
            <a:ext cx="3021235" cy="496989"/>
          </a:xfrm>
          <a:prstGeom prst="rect">
            <a:avLst/>
          </a:prstGeom>
        </p:spPr>
        <p:txBody>
          <a:bodyPr vert="horz" lIns="91440" tIns="45720" rIns="91440" bIns="45720" rtlCol="0" anchor="b">
            <a:normAutofit fontScale="85000" lnSpcReduction="20000"/>
          </a:bodyPr>
          <a:lstStyle/>
          <a:p>
            <a:pPr>
              <a:lnSpc>
                <a:spcPct val="90000"/>
              </a:lnSpc>
              <a:spcBef>
                <a:spcPct val="0"/>
              </a:spcBef>
              <a:spcAft>
                <a:spcPts val="600"/>
              </a:spcAft>
            </a:pPr>
            <a:r>
              <a:rPr lang="en-US" sz="4000" b="1" dirty="0">
                <a:latin typeface="+mj-lt"/>
                <a:ea typeface="+mj-ea"/>
                <a:cs typeface="+mj-cs"/>
              </a:rPr>
              <a:t>About </a:t>
            </a:r>
            <a:r>
              <a:rPr lang="en-US" sz="4000" b="1" dirty="0" err="1">
                <a:latin typeface="+mj-lt"/>
                <a:ea typeface="+mj-ea"/>
                <a:cs typeface="+mj-cs"/>
              </a:rPr>
              <a:t>AfriTech</a:t>
            </a:r>
            <a:endParaRPr lang="en-US" sz="4000" b="1" dirty="0">
              <a:latin typeface="+mj-lt"/>
              <a:ea typeface="+mj-ea"/>
              <a:cs typeface="+mj-cs"/>
            </a:endParaRPr>
          </a:p>
        </p:txBody>
      </p:sp>
      <p:pic>
        <p:nvPicPr>
          <p:cNvPr id="7" name="Picture 6" descr="Blue circuit board">
            <a:extLst>
              <a:ext uri="{FF2B5EF4-FFF2-40B4-BE49-F238E27FC236}">
                <a16:creationId xmlns:a16="http://schemas.microsoft.com/office/drawing/2014/main" id="{0EBB46B1-4472-62B9-7AC6-275CA3E75619}"/>
              </a:ext>
            </a:extLst>
          </p:cNvPr>
          <p:cNvPicPr>
            <a:picLocks noChangeAspect="1"/>
          </p:cNvPicPr>
          <p:nvPr/>
        </p:nvPicPr>
        <p:blipFill>
          <a:blip r:embed="rId2"/>
          <a:srcRect l="27439" r="13213" b="-2"/>
          <a:stretch>
            <a:fillRect/>
          </a:stretch>
        </p:blipFill>
        <p:spPr>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
        <p:nvSpPr>
          <p:cNvPr id="5" name="TextBox 4">
            <a:extLst>
              <a:ext uri="{FF2B5EF4-FFF2-40B4-BE49-F238E27FC236}">
                <a16:creationId xmlns:a16="http://schemas.microsoft.com/office/drawing/2014/main" id="{31193FA3-4EBD-C42F-F878-8F82ECFC70F7}"/>
              </a:ext>
            </a:extLst>
          </p:cNvPr>
          <p:cNvSpPr txBox="1"/>
          <p:nvPr/>
        </p:nvSpPr>
        <p:spPr>
          <a:xfrm>
            <a:off x="6280082" y="2119312"/>
            <a:ext cx="5636615" cy="3752849"/>
          </a:xfrm>
          <a:prstGeom prst="rect">
            <a:avLst/>
          </a:prstGeom>
        </p:spPr>
        <p:txBody>
          <a:bodyPr vert="horz" lIns="91440" tIns="45720" rIns="91440" bIns="45720" rtlCol="0">
            <a:noAutofit/>
          </a:bodyPr>
          <a:lstStyle/>
          <a:p>
            <a:pPr>
              <a:lnSpc>
                <a:spcPct val="90000"/>
              </a:lnSpc>
              <a:spcAft>
                <a:spcPts val="600"/>
              </a:spcAft>
            </a:pPr>
            <a:r>
              <a:rPr lang="en-US" sz="1300" dirty="0" err="1"/>
              <a:t>AfriTech</a:t>
            </a:r>
            <a:r>
              <a:rPr lang="en-US" sz="1300" dirty="0"/>
              <a:t> Electronics Ltd. is a dynamic force in the global consumer electronics industry, renowned for its innovation in smartphones, tablets, and wearable technology. Headquartered in the United States, the company has carved out a reputation for blending cutting-edge technology with premium quality and user-centric design. With a dedicated team of 200 employees, </a:t>
            </a:r>
            <a:r>
              <a:rPr lang="en-US" sz="1300" dirty="0" err="1"/>
              <a:t>AfriTech</a:t>
            </a:r>
            <a:r>
              <a:rPr lang="en-US" sz="1300" dirty="0"/>
              <a:t> is committed to pushing the boundaries of product excellence and delivering transformative digital experiences.</a:t>
            </a:r>
          </a:p>
          <a:p>
            <a:pPr indent="-228600">
              <a:lnSpc>
                <a:spcPct val="90000"/>
              </a:lnSpc>
              <a:spcAft>
                <a:spcPts val="600"/>
              </a:spcAft>
              <a:buFont typeface="Arial" panose="020B0604020202020204" pitchFamily="34" charset="0"/>
              <a:buChar char="•"/>
            </a:pPr>
            <a:r>
              <a:rPr lang="en-US" sz="1300" dirty="0"/>
              <a:t>Since its inception, </a:t>
            </a:r>
            <a:r>
              <a:rPr lang="en-US" sz="1300" dirty="0" err="1"/>
              <a:t>AfriTech</a:t>
            </a:r>
            <a:r>
              <a:rPr lang="en-US" sz="1300" dirty="0"/>
              <a:t> has marked key milestones that reflect its growth and visionary leadership:</a:t>
            </a:r>
          </a:p>
          <a:p>
            <a:pPr indent="-228600">
              <a:lnSpc>
                <a:spcPct val="90000"/>
              </a:lnSpc>
              <a:spcAft>
                <a:spcPts val="600"/>
              </a:spcAft>
              <a:buFont typeface="Arial" panose="020B0604020202020204" pitchFamily="34" charset="0"/>
              <a:buChar char="•"/>
            </a:pPr>
            <a:r>
              <a:rPr lang="en-US" sz="1300" dirty="0"/>
              <a:t>🚀 </a:t>
            </a:r>
            <a:r>
              <a:rPr lang="en-US" sz="1300" b="1" dirty="0"/>
              <a:t>2017</a:t>
            </a:r>
            <a:r>
              <a:rPr lang="en-US" sz="1300" dirty="0"/>
              <a:t>: Debuted its flagship smartphone series, redefining design and performance standards.</a:t>
            </a:r>
          </a:p>
          <a:p>
            <a:pPr indent="-228600">
              <a:lnSpc>
                <a:spcPct val="90000"/>
              </a:lnSpc>
              <a:spcAft>
                <a:spcPts val="600"/>
              </a:spcAft>
              <a:buFont typeface="Arial" panose="020B0604020202020204" pitchFamily="34" charset="0"/>
              <a:buChar char="•"/>
            </a:pPr>
            <a:r>
              <a:rPr lang="en-US" sz="1300" dirty="0"/>
              <a:t>⌚ </a:t>
            </a:r>
            <a:r>
              <a:rPr lang="en-US" sz="1300" b="1" dirty="0"/>
              <a:t>2019</a:t>
            </a:r>
            <a:r>
              <a:rPr lang="en-US" sz="1300" dirty="0"/>
              <a:t>: Expanded into wearable tech, reinforcing its market presence.</a:t>
            </a:r>
          </a:p>
          <a:p>
            <a:pPr indent="-228600">
              <a:lnSpc>
                <a:spcPct val="90000"/>
              </a:lnSpc>
              <a:spcAft>
                <a:spcPts val="600"/>
              </a:spcAft>
              <a:buFont typeface="Arial" panose="020B0604020202020204" pitchFamily="34" charset="0"/>
              <a:buChar char="•"/>
            </a:pPr>
            <a:r>
              <a:rPr lang="en-US" sz="1300" dirty="0"/>
              <a:t>🤖 </a:t>
            </a:r>
            <a:r>
              <a:rPr lang="en-US" sz="1300" b="1" dirty="0"/>
              <a:t>2021</a:t>
            </a:r>
            <a:r>
              <a:rPr lang="en-US" sz="1300" dirty="0"/>
              <a:t>: Rolled out AI-driven features across product lines, enhancing personalization and functionality.</a:t>
            </a:r>
          </a:p>
          <a:p>
            <a:pPr indent="-228600">
              <a:lnSpc>
                <a:spcPct val="90000"/>
              </a:lnSpc>
              <a:spcAft>
                <a:spcPts val="600"/>
              </a:spcAft>
              <a:buFont typeface="Arial" panose="020B0604020202020204" pitchFamily="34" charset="0"/>
              <a:buChar char="•"/>
            </a:pPr>
            <a:r>
              <a:rPr lang="en-US" sz="1300" dirty="0"/>
              <a:t>💰 </a:t>
            </a:r>
            <a:r>
              <a:rPr lang="en-US" sz="1300" b="1" dirty="0"/>
              <a:t>2022</a:t>
            </a:r>
            <a:r>
              <a:rPr lang="en-US" sz="1300" dirty="0"/>
              <a:t>: Surpassed $2 million in annual revenue, signaling strong global traction.</a:t>
            </a:r>
          </a:p>
          <a:p>
            <a:pPr indent="-228600">
              <a:lnSpc>
                <a:spcPct val="90000"/>
              </a:lnSpc>
              <a:spcAft>
                <a:spcPts val="600"/>
              </a:spcAft>
              <a:buFont typeface="Arial" panose="020B0604020202020204" pitchFamily="34" charset="0"/>
              <a:buChar char="•"/>
            </a:pPr>
            <a:r>
              <a:rPr lang="en-US" sz="1300" dirty="0"/>
              <a:t>🌐 </a:t>
            </a:r>
            <a:r>
              <a:rPr lang="en-US" sz="1300" b="1" dirty="0"/>
              <a:t>2025</a:t>
            </a:r>
            <a:r>
              <a:rPr lang="en-US" sz="1300" dirty="0"/>
              <a:t>: Earned recognition as a top innovator in smart device integration.</a:t>
            </a:r>
          </a:p>
          <a:p>
            <a:pPr indent="-228600">
              <a:lnSpc>
                <a:spcPct val="90000"/>
              </a:lnSpc>
              <a:spcAft>
                <a:spcPts val="600"/>
              </a:spcAft>
              <a:buFont typeface="Arial" panose="020B0604020202020204" pitchFamily="34" charset="0"/>
              <a:buChar char="•"/>
            </a:pPr>
            <a:r>
              <a:rPr lang="en-US" sz="1300" dirty="0" err="1"/>
              <a:t>AfriTech’s</a:t>
            </a:r>
            <a:r>
              <a:rPr lang="en-US" sz="1300" dirty="0"/>
              <a:t> brand is built on a foundation of continuous innovation, design excellence, and strategic alignment with emerging tech trends. Its unwavering focus on consumer trust and long-term loyalty positions it as a trusted global brand in the fast-evolving electronics landscape.</a:t>
            </a:r>
          </a:p>
        </p:txBody>
      </p:sp>
    </p:spTree>
    <p:extLst>
      <p:ext uri="{BB962C8B-B14F-4D97-AF65-F5344CB8AC3E}">
        <p14:creationId xmlns:p14="http://schemas.microsoft.com/office/powerpoint/2010/main" val="2165465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CEEBA9-8A1A-FB8E-3315-D03CEAE2D955}"/>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99FBB33-9048-5468-7828-A9F639A9BF29}"/>
              </a:ext>
            </a:extLst>
          </p:cNvPr>
          <p:cNvSpPr txBox="1"/>
          <p:nvPr/>
        </p:nvSpPr>
        <p:spPr>
          <a:xfrm>
            <a:off x="645065" y="1463040"/>
            <a:ext cx="3091193" cy="1870095"/>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400" b="1" kern="1200" dirty="0">
                <a:solidFill>
                  <a:schemeClr val="tx1"/>
                </a:solidFill>
                <a:latin typeface="+mj-lt"/>
                <a:ea typeface="+mj-ea"/>
                <a:cs typeface="+mj-cs"/>
              </a:rPr>
              <a:t>Business</a:t>
            </a:r>
            <a:r>
              <a:rPr lang="en-US" sz="4800" b="1" kern="1200" dirty="0">
                <a:solidFill>
                  <a:schemeClr val="tx1"/>
                </a:solidFill>
                <a:latin typeface="+mj-lt"/>
                <a:ea typeface="+mj-ea"/>
                <a:cs typeface="+mj-cs"/>
              </a:rPr>
              <a:t> </a:t>
            </a:r>
          </a:p>
          <a:p>
            <a:pPr>
              <a:lnSpc>
                <a:spcPct val="90000"/>
              </a:lnSpc>
              <a:spcBef>
                <a:spcPct val="0"/>
              </a:spcBef>
              <a:spcAft>
                <a:spcPts val="600"/>
              </a:spcAft>
            </a:pPr>
            <a:r>
              <a:rPr lang="en-US" sz="3400" b="1" kern="1200" dirty="0">
                <a:solidFill>
                  <a:schemeClr val="tx1"/>
                </a:solidFill>
                <a:latin typeface="+mj-lt"/>
                <a:ea typeface="+mj-ea"/>
                <a:cs typeface="+mj-cs"/>
              </a:rPr>
              <a:t>Challenge</a:t>
            </a:r>
          </a:p>
        </p:txBody>
      </p:sp>
      <p:grpSp>
        <p:nvGrpSpPr>
          <p:cNvPr id="8" name="Group 7">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9" name="Rectangle 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6" name="Rectangle 1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4B089FC-38C8-7008-A500-658ECB8283FB}"/>
              </a:ext>
            </a:extLst>
          </p:cNvPr>
          <p:cNvSpPr txBox="1"/>
          <p:nvPr/>
        </p:nvSpPr>
        <p:spPr>
          <a:xfrm>
            <a:off x="5343374" y="587829"/>
            <a:ext cx="6203561" cy="5596661"/>
          </a:xfrm>
          <a:prstGeom prst="rect">
            <a:avLst/>
          </a:prstGeom>
        </p:spPr>
        <p:txBody>
          <a:bodyPr vert="horz" lIns="91440" tIns="45720" rIns="91440" bIns="45720" rtlCol="0" anchor="t">
            <a:normAutofit/>
          </a:bodyPr>
          <a:lstStyle/>
          <a:p>
            <a:pPr>
              <a:lnSpc>
                <a:spcPct val="90000"/>
              </a:lnSpc>
              <a:spcAft>
                <a:spcPts val="600"/>
              </a:spcAft>
            </a:pPr>
            <a:r>
              <a:rPr lang="en-US" sz="1300" dirty="0" err="1"/>
              <a:t>AfriTech</a:t>
            </a:r>
            <a:r>
              <a:rPr lang="en-US" sz="1300" dirty="0"/>
              <a:t> Electronics Ltd. is grappling with a significant brand reputation crisis driven by a surge in negative customer sentiment. Key issues include:</a:t>
            </a:r>
          </a:p>
          <a:p>
            <a:pPr indent="-228600">
              <a:lnSpc>
                <a:spcPct val="90000"/>
              </a:lnSpc>
              <a:spcAft>
                <a:spcPts val="600"/>
              </a:spcAft>
              <a:buFont typeface="Arial" panose="020B0604020202020204" pitchFamily="34" charset="0"/>
              <a:buChar char="•"/>
            </a:pPr>
            <a:r>
              <a:rPr lang="en-US" sz="1300" b="1" dirty="0"/>
              <a:t>Negative Social Media Buzz</a:t>
            </a:r>
            <a:r>
              <a:rPr lang="en-US" sz="1300" dirty="0"/>
              <a:t>: Widespread criticism of products and customer service is eroding public trust.</a:t>
            </a:r>
          </a:p>
          <a:p>
            <a:pPr indent="-228600">
              <a:lnSpc>
                <a:spcPct val="90000"/>
              </a:lnSpc>
              <a:spcAft>
                <a:spcPts val="600"/>
              </a:spcAft>
              <a:buFont typeface="Arial" panose="020B0604020202020204" pitchFamily="34" charset="0"/>
              <a:buChar char="•"/>
            </a:pPr>
            <a:r>
              <a:rPr lang="en-US" sz="1300" b="1" dirty="0"/>
              <a:t>Customer Complaints</a:t>
            </a:r>
            <a:r>
              <a:rPr lang="en-US" sz="1300" dirty="0"/>
              <a:t>: Rising dissatisfaction due to product defects, slow support response, and billing problems.</a:t>
            </a:r>
          </a:p>
          <a:p>
            <a:pPr indent="-228600">
              <a:lnSpc>
                <a:spcPct val="90000"/>
              </a:lnSpc>
              <a:spcAft>
                <a:spcPts val="600"/>
              </a:spcAft>
              <a:buFont typeface="Arial" panose="020B0604020202020204" pitchFamily="34" charset="0"/>
              <a:buChar char="•"/>
            </a:pPr>
            <a:r>
              <a:rPr lang="en-US" sz="1300" b="1" dirty="0"/>
              <a:t>Product Recalls</a:t>
            </a:r>
            <a:r>
              <a:rPr lang="en-US" sz="1300" dirty="0"/>
              <a:t>: High-profile recalls have triggered media scrutiny and customer anxiety.</a:t>
            </a:r>
          </a:p>
          <a:p>
            <a:pPr>
              <a:lnSpc>
                <a:spcPct val="90000"/>
              </a:lnSpc>
              <a:spcAft>
                <a:spcPts val="600"/>
              </a:spcAft>
            </a:pPr>
            <a:r>
              <a:rPr lang="en-US" sz="1300" dirty="0"/>
              <a:t>📉 </a:t>
            </a:r>
            <a:r>
              <a:rPr lang="en-US" sz="1300" b="1" u="sng" dirty="0"/>
              <a:t>Impact on the Business</a:t>
            </a:r>
          </a:p>
          <a:p>
            <a:pPr indent="-228600">
              <a:lnSpc>
                <a:spcPct val="90000"/>
              </a:lnSpc>
              <a:spcAft>
                <a:spcPts val="600"/>
              </a:spcAft>
              <a:buFont typeface="Arial" panose="020B0604020202020204" pitchFamily="34" charset="0"/>
              <a:buChar char="•"/>
            </a:pPr>
            <a:r>
              <a:rPr lang="en-US" sz="1300" dirty="0"/>
              <a:t>Loss of market share to competitors exploiting </a:t>
            </a:r>
            <a:r>
              <a:rPr lang="en-US" sz="1300" dirty="0" err="1"/>
              <a:t>AfriTech’s</a:t>
            </a:r>
            <a:r>
              <a:rPr lang="en-US" sz="1300" dirty="0"/>
              <a:t> reputation gaps.</a:t>
            </a:r>
          </a:p>
          <a:p>
            <a:pPr indent="-228600">
              <a:lnSpc>
                <a:spcPct val="90000"/>
              </a:lnSpc>
              <a:spcAft>
                <a:spcPts val="600"/>
              </a:spcAft>
              <a:buFont typeface="Arial" panose="020B0604020202020204" pitchFamily="34" charset="0"/>
              <a:buChar char="•"/>
            </a:pPr>
            <a:r>
              <a:rPr lang="en-US" sz="1300" dirty="0"/>
              <a:t>Declining customer trust and satisfaction.</a:t>
            </a:r>
          </a:p>
          <a:p>
            <a:pPr indent="-228600">
              <a:lnSpc>
                <a:spcPct val="90000"/>
              </a:lnSpc>
              <a:spcAft>
                <a:spcPts val="600"/>
              </a:spcAft>
              <a:buFont typeface="Arial" panose="020B0604020202020204" pitchFamily="34" charset="0"/>
              <a:buChar char="•"/>
            </a:pPr>
            <a:r>
              <a:rPr lang="en-US" sz="1300" dirty="0"/>
              <a:t>Reduced sales and heightened competitive pressure.</a:t>
            </a:r>
          </a:p>
          <a:p>
            <a:pPr>
              <a:lnSpc>
                <a:spcPct val="90000"/>
              </a:lnSpc>
              <a:spcAft>
                <a:spcPts val="600"/>
              </a:spcAft>
            </a:pPr>
            <a:r>
              <a:rPr lang="en-US" sz="1300" dirty="0"/>
              <a:t>🎯 </a:t>
            </a:r>
            <a:r>
              <a:rPr lang="en-US" sz="1300" b="1" u="sng" dirty="0"/>
              <a:t>Strategic Rationale</a:t>
            </a:r>
          </a:p>
          <a:p>
            <a:pPr indent="-228600">
              <a:lnSpc>
                <a:spcPct val="90000"/>
              </a:lnSpc>
              <a:spcAft>
                <a:spcPts val="600"/>
              </a:spcAft>
              <a:buFont typeface="Arial" panose="020B0604020202020204" pitchFamily="34" charset="0"/>
              <a:buChar char="•"/>
            </a:pPr>
            <a:r>
              <a:rPr lang="en-US" sz="1300" dirty="0"/>
              <a:t>To safeguard its brand and market position, </a:t>
            </a:r>
            <a:r>
              <a:rPr lang="en-US" sz="1300" dirty="0" err="1"/>
              <a:t>AfriTech</a:t>
            </a:r>
            <a:r>
              <a:rPr lang="en-US" sz="1300" dirty="0"/>
              <a:t> must:</a:t>
            </a:r>
          </a:p>
          <a:p>
            <a:pPr indent="-228600">
              <a:lnSpc>
                <a:spcPct val="90000"/>
              </a:lnSpc>
              <a:spcAft>
                <a:spcPts val="600"/>
              </a:spcAft>
              <a:buFont typeface="Arial" panose="020B0604020202020204" pitchFamily="34" charset="0"/>
              <a:buChar char="•"/>
            </a:pPr>
            <a:r>
              <a:rPr lang="en-US" sz="1300" dirty="0"/>
              <a:t>Monitor and analyze social media sentiment in real time.</a:t>
            </a:r>
          </a:p>
          <a:p>
            <a:pPr indent="-228600">
              <a:lnSpc>
                <a:spcPct val="90000"/>
              </a:lnSpc>
              <a:spcAft>
                <a:spcPts val="600"/>
              </a:spcAft>
              <a:buFont typeface="Arial" panose="020B0604020202020204" pitchFamily="34" charset="0"/>
              <a:buChar char="•"/>
            </a:pPr>
            <a:r>
              <a:rPr lang="en-US" sz="1300" dirty="0"/>
              <a:t>Prioritize and resolve customer issues swiftly.</a:t>
            </a:r>
          </a:p>
          <a:p>
            <a:pPr indent="-228600">
              <a:lnSpc>
                <a:spcPct val="90000"/>
              </a:lnSpc>
              <a:spcAft>
                <a:spcPts val="600"/>
              </a:spcAft>
              <a:buFont typeface="Arial" panose="020B0604020202020204" pitchFamily="34" charset="0"/>
              <a:buChar char="•"/>
            </a:pPr>
            <a:r>
              <a:rPr lang="en-US" sz="1300" dirty="0"/>
              <a:t>Implement proactive crisis detection and communication strategies.</a:t>
            </a:r>
          </a:p>
          <a:p>
            <a:pPr>
              <a:lnSpc>
                <a:spcPct val="90000"/>
              </a:lnSpc>
              <a:spcAft>
                <a:spcPts val="600"/>
              </a:spcAft>
            </a:pPr>
            <a:r>
              <a:rPr lang="en-US" sz="1300" dirty="0"/>
              <a:t>🧭 </a:t>
            </a:r>
            <a:r>
              <a:rPr lang="en-US" sz="1300" b="1" u="sng" dirty="0"/>
              <a:t>Project Objectives</a:t>
            </a:r>
          </a:p>
          <a:p>
            <a:pPr indent="-228600">
              <a:lnSpc>
                <a:spcPct val="90000"/>
              </a:lnSpc>
              <a:spcAft>
                <a:spcPts val="600"/>
              </a:spcAft>
              <a:buFont typeface="Arial" panose="020B0604020202020204" pitchFamily="34" charset="0"/>
              <a:buChar char="•"/>
            </a:pPr>
            <a:r>
              <a:rPr lang="en-US" sz="1300" i="1" dirty="0"/>
              <a:t>Protect Market Position</a:t>
            </a:r>
            <a:r>
              <a:rPr lang="en-US" sz="1300" dirty="0"/>
              <a:t>: Preserve brand equity and competitiveness.</a:t>
            </a:r>
          </a:p>
          <a:p>
            <a:pPr indent="-228600">
              <a:lnSpc>
                <a:spcPct val="90000"/>
              </a:lnSpc>
              <a:spcAft>
                <a:spcPts val="600"/>
              </a:spcAft>
              <a:buFont typeface="Arial" panose="020B0604020202020204" pitchFamily="34" charset="0"/>
              <a:buChar char="•"/>
            </a:pPr>
            <a:r>
              <a:rPr lang="en-US" sz="1300" i="1" dirty="0"/>
              <a:t>Retain Customers</a:t>
            </a:r>
            <a:r>
              <a:rPr lang="en-US" sz="1300" dirty="0"/>
              <a:t>: Improve satisfaction and reduce churn.</a:t>
            </a:r>
          </a:p>
          <a:p>
            <a:pPr indent="-228600">
              <a:lnSpc>
                <a:spcPct val="90000"/>
              </a:lnSpc>
              <a:spcAft>
                <a:spcPts val="600"/>
              </a:spcAft>
              <a:buFont typeface="Arial" panose="020B0604020202020204" pitchFamily="34" charset="0"/>
              <a:buChar char="•"/>
            </a:pPr>
            <a:r>
              <a:rPr lang="en-US" sz="1300" i="1" dirty="0"/>
              <a:t>Mitigate Crises</a:t>
            </a:r>
            <a:r>
              <a:rPr lang="en-US" sz="1300" dirty="0"/>
              <a:t>: Detect and address risks early.</a:t>
            </a:r>
          </a:p>
          <a:p>
            <a:pPr indent="-228600">
              <a:lnSpc>
                <a:spcPct val="90000"/>
              </a:lnSpc>
              <a:spcAft>
                <a:spcPts val="600"/>
              </a:spcAft>
              <a:buFont typeface="Arial" panose="020B0604020202020204" pitchFamily="34" charset="0"/>
              <a:buChar char="•"/>
            </a:pPr>
            <a:r>
              <a:rPr lang="en-US" sz="1300" i="1" dirty="0"/>
              <a:t>Enable Data-Driven Decisions</a:t>
            </a:r>
            <a:r>
              <a:rPr lang="en-US" sz="1300" dirty="0"/>
              <a:t>: Use sentiment insights to guide strategy.</a:t>
            </a:r>
          </a:p>
          <a:p>
            <a:pPr indent="-228600">
              <a:lnSpc>
                <a:spcPct val="90000"/>
              </a:lnSpc>
              <a:spcAft>
                <a:spcPts val="600"/>
              </a:spcAft>
              <a:buFont typeface="Arial" panose="020B0604020202020204" pitchFamily="34" charset="0"/>
              <a:buChar char="•"/>
            </a:pPr>
            <a:r>
              <a:rPr lang="en-US" sz="1300" i="1" dirty="0"/>
              <a:t>Enhance Marketing</a:t>
            </a:r>
            <a:r>
              <a:rPr lang="en-US" sz="1300" dirty="0"/>
              <a:t>: Align messaging with customer expectations.</a:t>
            </a:r>
          </a:p>
        </p:txBody>
      </p:sp>
    </p:spTree>
    <p:extLst>
      <p:ext uri="{BB962C8B-B14F-4D97-AF65-F5344CB8AC3E}">
        <p14:creationId xmlns:p14="http://schemas.microsoft.com/office/powerpoint/2010/main" val="674159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4ED4A9-4871-4B50-B577-22CF1B59865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F314788-F565-A217-C617-E28E5FCBC024}"/>
              </a:ext>
            </a:extLst>
          </p:cNvPr>
          <p:cNvSpPr txBox="1"/>
          <p:nvPr/>
        </p:nvSpPr>
        <p:spPr>
          <a:xfrm>
            <a:off x="645065" y="1463041"/>
            <a:ext cx="2570083" cy="1358818"/>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400" b="1" kern="1200" dirty="0">
                <a:solidFill>
                  <a:schemeClr val="tx1"/>
                </a:solidFill>
                <a:latin typeface="+mj-lt"/>
                <a:ea typeface="+mj-ea"/>
                <a:cs typeface="+mj-cs"/>
              </a:rPr>
              <a:t>EXECUTIVE</a:t>
            </a:r>
          </a:p>
          <a:p>
            <a:pPr>
              <a:lnSpc>
                <a:spcPct val="90000"/>
              </a:lnSpc>
              <a:spcBef>
                <a:spcPct val="0"/>
              </a:spcBef>
              <a:spcAft>
                <a:spcPts val="600"/>
              </a:spcAft>
            </a:pPr>
            <a:r>
              <a:rPr lang="en-US" sz="3400" b="1" kern="1200" dirty="0">
                <a:solidFill>
                  <a:schemeClr val="tx1"/>
                </a:solidFill>
                <a:latin typeface="+mj-lt"/>
                <a:ea typeface="+mj-ea"/>
                <a:cs typeface="+mj-cs"/>
              </a:rPr>
              <a:t> SUMMARY</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BA60788-86BF-4228-17E2-9BA5B168DFF7}"/>
              </a:ext>
            </a:extLst>
          </p:cNvPr>
          <p:cNvSpPr txBox="1"/>
          <p:nvPr/>
        </p:nvSpPr>
        <p:spPr>
          <a:xfrm>
            <a:off x="5133706" y="671635"/>
            <a:ext cx="6505299" cy="4300447"/>
          </a:xfrm>
          <a:prstGeom prst="rect">
            <a:avLst/>
          </a:prstGeom>
        </p:spPr>
        <p:txBody>
          <a:bodyPr vert="horz" lIns="91440" tIns="45720" rIns="91440" bIns="45720" rtlCol="0" anchor="t">
            <a:noAutofit/>
          </a:bodyPr>
          <a:lstStyle/>
          <a:p>
            <a:pPr>
              <a:lnSpc>
                <a:spcPct val="90000"/>
              </a:lnSpc>
              <a:spcAft>
                <a:spcPts val="600"/>
              </a:spcAft>
            </a:pPr>
            <a:r>
              <a:rPr lang="en-US" sz="1200" b="1" u="sng" dirty="0"/>
              <a:t>Performance Highlights</a:t>
            </a:r>
          </a:p>
          <a:p>
            <a:pPr indent="-228600">
              <a:lnSpc>
                <a:spcPct val="90000"/>
              </a:lnSpc>
              <a:spcAft>
                <a:spcPts val="600"/>
              </a:spcAft>
              <a:buFont typeface="Arial" panose="020B0604020202020204" pitchFamily="34" charset="0"/>
              <a:buChar char="•"/>
            </a:pPr>
            <a:r>
              <a:rPr lang="en-US" sz="1200" i="1" dirty="0"/>
              <a:t>Total Revenue</a:t>
            </a:r>
            <a:r>
              <a:rPr lang="en-US" sz="1200" dirty="0"/>
              <a:t>: $37.5M, with consistent monthly growth from $1.5M in January to $2.8M in December.</a:t>
            </a:r>
          </a:p>
          <a:p>
            <a:pPr indent="-228600">
              <a:lnSpc>
                <a:spcPct val="90000"/>
              </a:lnSpc>
              <a:spcAft>
                <a:spcPts val="600"/>
              </a:spcAft>
              <a:buFont typeface="Arial" panose="020B0604020202020204" pitchFamily="34" charset="0"/>
              <a:buChar char="•"/>
            </a:pPr>
            <a:r>
              <a:rPr lang="en-US" sz="1200" i="1" dirty="0"/>
              <a:t>Top Products by Revenue</a:t>
            </a:r>
            <a:r>
              <a:rPr lang="en-US" sz="1200" dirty="0"/>
              <a:t>: Laptops ($15.9M), Smartphones ($13.5M), Tablets ($9.1M), Smartwatches ($6.3M).</a:t>
            </a:r>
          </a:p>
          <a:p>
            <a:pPr indent="-228600">
              <a:lnSpc>
                <a:spcPct val="90000"/>
              </a:lnSpc>
              <a:spcAft>
                <a:spcPts val="600"/>
              </a:spcAft>
              <a:buFont typeface="Arial" panose="020B0604020202020204" pitchFamily="34" charset="0"/>
              <a:buChar char="•"/>
            </a:pPr>
            <a:r>
              <a:rPr lang="en-US" sz="1200" i="1" dirty="0"/>
              <a:t>Customer Base</a:t>
            </a:r>
            <a:r>
              <a:rPr lang="en-US" sz="1200" dirty="0"/>
              <a:t>: 48K customers across 49 regions, with 62% being returning customers.</a:t>
            </a:r>
          </a:p>
          <a:p>
            <a:pPr indent="-228600">
              <a:lnSpc>
                <a:spcPct val="90000"/>
              </a:lnSpc>
              <a:spcAft>
                <a:spcPts val="600"/>
              </a:spcAft>
              <a:buFont typeface="Arial" panose="020B0604020202020204" pitchFamily="34" charset="0"/>
              <a:buChar char="•"/>
            </a:pPr>
            <a:r>
              <a:rPr lang="en-US" sz="1200" i="1" dirty="0"/>
              <a:t>Purchase Frequency</a:t>
            </a:r>
            <a:r>
              <a:rPr lang="en-US" sz="1200" dirty="0"/>
              <a:t>: High average of 240 purchases per customer, indicating strong repeat behavior.</a:t>
            </a:r>
          </a:p>
          <a:p>
            <a:pPr>
              <a:lnSpc>
                <a:spcPct val="90000"/>
              </a:lnSpc>
              <a:spcAft>
                <a:spcPts val="600"/>
              </a:spcAft>
            </a:pPr>
            <a:r>
              <a:rPr lang="en-US" sz="1200" b="1" u="sng" dirty="0"/>
              <a:t>Crisis &amp; Complaint Insights</a:t>
            </a:r>
          </a:p>
          <a:p>
            <a:pPr indent="-228600">
              <a:lnSpc>
                <a:spcPct val="90000"/>
              </a:lnSpc>
              <a:spcAft>
                <a:spcPts val="600"/>
              </a:spcAft>
              <a:buFont typeface="Arial" panose="020B0604020202020204" pitchFamily="34" charset="0"/>
              <a:buChar char="•"/>
            </a:pPr>
            <a:r>
              <a:rPr lang="en-US" sz="1200" i="1" dirty="0"/>
              <a:t>Avg Response Time</a:t>
            </a:r>
            <a:r>
              <a:rPr lang="en-US" sz="1200" dirty="0"/>
              <a:t>: Increased from 158 days (2021) to 192 days (2023), signaling worsening support efficiency.</a:t>
            </a:r>
          </a:p>
          <a:p>
            <a:pPr indent="-228600">
              <a:lnSpc>
                <a:spcPct val="90000"/>
              </a:lnSpc>
              <a:spcAft>
                <a:spcPts val="600"/>
              </a:spcAft>
              <a:buFont typeface="Arial" panose="020B0604020202020204" pitchFamily="34" charset="0"/>
              <a:buChar char="•"/>
            </a:pPr>
            <a:r>
              <a:rPr lang="en-US" sz="1200" i="1" dirty="0"/>
              <a:t>Unresolved Crises</a:t>
            </a:r>
            <a:r>
              <a:rPr lang="en-US" sz="1200" dirty="0"/>
              <a:t>: 7K cases, with 52% from new customers—highlighting onboarding and product quality issues.</a:t>
            </a:r>
          </a:p>
          <a:p>
            <a:pPr indent="-228600">
              <a:lnSpc>
                <a:spcPct val="90000"/>
              </a:lnSpc>
              <a:spcAft>
                <a:spcPts val="600"/>
              </a:spcAft>
              <a:buFont typeface="Arial" panose="020B0604020202020204" pitchFamily="34" charset="0"/>
              <a:buChar char="•"/>
            </a:pPr>
            <a:r>
              <a:rPr lang="en-US" sz="1200" i="1" dirty="0"/>
              <a:t>Product Recalls</a:t>
            </a:r>
            <a:r>
              <a:rPr lang="en-US" sz="1200" dirty="0"/>
              <a:t>: 25K total, heavily concentrated in top regions like Montana, Nebraska, and West Virginia.</a:t>
            </a:r>
          </a:p>
          <a:p>
            <a:pPr indent="-228600">
              <a:lnSpc>
                <a:spcPct val="90000"/>
              </a:lnSpc>
              <a:spcAft>
                <a:spcPts val="600"/>
              </a:spcAft>
              <a:buFont typeface="Arial" panose="020B0604020202020204" pitchFamily="34" charset="0"/>
              <a:buChar char="•"/>
            </a:pPr>
            <a:r>
              <a:rPr lang="en-US" sz="1200" i="1" dirty="0"/>
              <a:t>NPS Breakdown</a:t>
            </a:r>
            <a:r>
              <a:rPr lang="en-US" sz="1200" dirty="0"/>
              <a:t>: 18K+ customers are detractors (score 0–6), compared to only 3.9K promoters (score 9–10), resulting in a low average NPS of 5.0.</a:t>
            </a:r>
          </a:p>
          <a:p>
            <a:pPr>
              <a:lnSpc>
                <a:spcPct val="90000"/>
              </a:lnSpc>
              <a:spcAft>
                <a:spcPts val="600"/>
              </a:spcAft>
            </a:pPr>
            <a:r>
              <a:rPr lang="en-US" sz="1200" dirty="0"/>
              <a:t> </a:t>
            </a:r>
            <a:r>
              <a:rPr lang="en-US" sz="1200" b="1" u="sng" dirty="0"/>
              <a:t>Brand Sentiment &amp; Social Media Engagement</a:t>
            </a:r>
          </a:p>
          <a:p>
            <a:pPr indent="-228600">
              <a:lnSpc>
                <a:spcPct val="90000"/>
              </a:lnSpc>
              <a:spcAft>
                <a:spcPts val="600"/>
              </a:spcAft>
              <a:buFont typeface="Arial" panose="020B0604020202020204" pitchFamily="34" charset="0"/>
              <a:buChar char="•"/>
            </a:pPr>
            <a:r>
              <a:rPr lang="en-US" sz="1200" i="1" dirty="0"/>
              <a:t>Mentions</a:t>
            </a:r>
            <a:r>
              <a:rPr lang="en-US" sz="1200" dirty="0"/>
              <a:t>: 181M brand mentions with 37M comments and 74M shares.</a:t>
            </a:r>
          </a:p>
          <a:p>
            <a:pPr indent="-228600">
              <a:lnSpc>
                <a:spcPct val="90000"/>
              </a:lnSpc>
              <a:spcAft>
                <a:spcPts val="600"/>
              </a:spcAft>
              <a:buFont typeface="Arial" panose="020B0604020202020204" pitchFamily="34" charset="0"/>
              <a:buChar char="•"/>
            </a:pPr>
            <a:r>
              <a:rPr lang="en-US" sz="1200" i="1" dirty="0"/>
              <a:t>Sentiment Split</a:t>
            </a:r>
            <a:r>
              <a:rPr lang="en-US" sz="1200" dirty="0"/>
              <a:t>: 27.65% negative, 25.59% positive, and 46.76% neutral—indicating a reputation imbalance.</a:t>
            </a:r>
          </a:p>
          <a:p>
            <a:pPr indent="-228600">
              <a:lnSpc>
                <a:spcPct val="90000"/>
              </a:lnSpc>
              <a:spcAft>
                <a:spcPts val="600"/>
              </a:spcAft>
              <a:buFont typeface="Arial" panose="020B0604020202020204" pitchFamily="34" charset="0"/>
              <a:buChar char="•"/>
            </a:pPr>
            <a:r>
              <a:rPr lang="en-US" sz="1200" i="1" dirty="0"/>
              <a:t>Engagement by Age Group</a:t>
            </a:r>
            <a:r>
              <a:rPr lang="en-US" sz="1200" dirty="0"/>
              <a:t>: Highest among 35–44 (80%) and 25–34 (75%), suggesting a strong mid-age demographic presence.</a:t>
            </a:r>
          </a:p>
          <a:p>
            <a:pPr indent="-228600">
              <a:lnSpc>
                <a:spcPct val="90000"/>
              </a:lnSpc>
              <a:spcAft>
                <a:spcPts val="600"/>
              </a:spcAft>
              <a:buFont typeface="Arial" panose="020B0604020202020204" pitchFamily="34" charset="0"/>
              <a:buChar char="•"/>
            </a:pPr>
            <a:r>
              <a:rPr lang="en-US" sz="1200" i="1" dirty="0"/>
              <a:t>Platform Activity</a:t>
            </a:r>
            <a:r>
              <a:rPr lang="en-US" sz="1200" dirty="0"/>
              <a:t>: TikTok and Twitter show high engagement across crisis, brand, and customer care categories.</a:t>
            </a:r>
          </a:p>
        </p:txBody>
      </p:sp>
    </p:spTree>
    <p:extLst>
      <p:ext uri="{BB962C8B-B14F-4D97-AF65-F5344CB8AC3E}">
        <p14:creationId xmlns:p14="http://schemas.microsoft.com/office/powerpoint/2010/main" val="575191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D898B8EB-E53C-4E72-9817-B4BFCAD73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5" name="Freeform: Shape 54">
            <a:extLst>
              <a:ext uri="{FF2B5EF4-FFF2-40B4-BE49-F238E27FC236}">
                <a16:creationId xmlns:a16="http://schemas.microsoft.com/office/drawing/2014/main" id="{4E130362-2F35-4AB7-9EA5-DBC0F771A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7" name="Freeform: Shape 56">
            <a:extLst>
              <a:ext uri="{FF2B5EF4-FFF2-40B4-BE49-F238E27FC236}">
                <a16:creationId xmlns:a16="http://schemas.microsoft.com/office/drawing/2014/main" id="{56BE988C-7A5B-41EC-A46C-AEA93D8D3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6E8282AB-3670-0FCB-A10E-E65D96E32EDB}"/>
              </a:ext>
            </a:extLst>
          </p:cNvPr>
          <p:cNvSpPr txBox="1"/>
          <p:nvPr/>
        </p:nvSpPr>
        <p:spPr>
          <a:xfrm>
            <a:off x="475488" y="1124712"/>
            <a:ext cx="4023360" cy="320040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a:latin typeface="+mj-lt"/>
                <a:ea typeface="+mj-ea"/>
                <a:cs typeface="+mj-cs"/>
              </a:rPr>
              <a:t>DASHBOARDS</a:t>
            </a:r>
          </a:p>
        </p:txBody>
      </p:sp>
      <p:sp>
        <p:nvSpPr>
          <p:cNvPr id="77" name="Rectangle 76">
            <a:extLst>
              <a:ext uri="{FF2B5EF4-FFF2-40B4-BE49-F238E27FC236}">
                <a16:creationId xmlns:a16="http://schemas.microsoft.com/office/drawing/2014/main" id="{E3CB1EC0-40A9-4D5E-B7E2-6E3423CE2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5" name="Picture 44" descr="A screenshot of a computer&#10;&#10;AI-generated content may be incorrect.">
            <a:extLst>
              <a:ext uri="{FF2B5EF4-FFF2-40B4-BE49-F238E27FC236}">
                <a16:creationId xmlns:a16="http://schemas.microsoft.com/office/drawing/2014/main" id="{7DA38681-DF13-BE03-0E8E-3032D1897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3420" y="625683"/>
            <a:ext cx="3674703" cy="2783587"/>
          </a:xfrm>
          <a:prstGeom prst="rect">
            <a:avLst/>
          </a:prstGeom>
          <a:scene3d>
            <a:camera prst="isometricOffAxis1Right"/>
            <a:lightRig rig="threePt" dir="t"/>
          </a:scene3d>
        </p:spPr>
      </p:pic>
      <p:pic>
        <p:nvPicPr>
          <p:cNvPr id="47" name="Picture 46" descr="A screenshot of a data analysis&#10;&#10;AI-generated content may be incorrect.">
            <a:extLst>
              <a:ext uri="{FF2B5EF4-FFF2-40B4-BE49-F238E27FC236}">
                <a16:creationId xmlns:a16="http://schemas.microsoft.com/office/drawing/2014/main" id="{336C2487-7C84-4A30-3D84-A2917DC088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3755" y="408080"/>
            <a:ext cx="3674703" cy="2765213"/>
          </a:xfrm>
          <a:prstGeom prst="rect">
            <a:avLst/>
          </a:prstGeom>
          <a:scene3d>
            <a:camera prst="isometricOffAxis1Right"/>
            <a:lightRig rig="threePt" dir="t"/>
          </a:scene3d>
        </p:spPr>
      </p:pic>
      <p:sp>
        <p:nvSpPr>
          <p:cNvPr id="61" name="Rectangle 60">
            <a:extLst>
              <a:ext uri="{FF2B5EF4-FFF2-40B4-BE49-F238E27FC236}">
                <a16:creationId xmlns:a16="http://schemas.microsoft.com/office/drawing/2014/main" id="{DCBE52EF-2889-423F-947C-0E44A760D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3" name="Picture 42" descr="A screenshot of a computer&#10;&#10;AI-generated content may be incorrect.">
            <a:extLst>
              <a:ext uri="{FF2B5EF4-FFF2-40B4-BE49-F238E27FC236}">
                <a16:creationId xmlns:a16="http://schemas.microsoft.com/office/drawing/2014/main" id="{307F8C51-DACE-48D8-CF6E-D13DD138F3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5418" y="3583410"/>
            <a:ext cx="3674703" cy="2756027"/>
          </a:xfrm>
          <a:prstGeom prst="rect">
            <a:avLst/>
          </a:prstGeom>
          <a:scene3d>
            <a:camera prst="isometricOffAxis1Right"/>
            <a:lightRig rig="threePt" dir="t"/>
          </a:scene3d>
        </p:spPr>
      </p:pic>
      <p:pic>
        <p:nvPicPr>
          <p:cNvPr id="41" name="Picture 40" descr="A screenshot of a computer&#10;&#10;AI-generated content may be incorrect.">
            <a:extLst>
              <a:ext uri="{FF2B5EF4-FFF2-40B4-BE49-F238E27FC236}">
                <a16:creationId xmlns:a16="http://schemas.microsoft.com/office/drawing/2014/main" id="{D812BFF8-7FC7-325C-4C6D-76D40760A6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30213" y="3260363"/>
            <a:ext cx="3674703" cy="2756027"/>
          </a:xfrm>
          <a:prstGeom prst="rect">
            <a:avLst/>
          </a:prstGeom>
          <a:scene3d>
            <a:camera prst="isometricOffAxis1Right"/>
            <a:lightRig rig="threePt" dir="t"/>
          </a:scene3d>
        </p:spPr>
      </p:pic>
    </p:spTree>
    <p:extLst>
      <p:ext uri="{BB962C8B-B14F-4D97-AF65-F5344CB8AC3E}">
        <p14:creationId xmlns:p14="http://schemas.microsoft.com/office/powerpoint/2010/main" val="2560555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a:extLst>
            <a:ext uri="{FF2B5EF4-FFF2-40B4-BE49-F238E27FC236}">
              <a16:creationId xmlns:a16="http://schemas.microsoft.com/office/drawing/2014/main" id="{559F4083-D337-0A45-5FAF-50C6C3A9EA7A}"/>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4" name="Rectangle 4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73459E2-64FE-005B-34AD-FA79FE07E87B}"/>
              </a:ext>
            </a:extLst>
          </p:cNvPr>
          <p:cNvSpPr txBox="1"/>
          <p:nvPr/>
        </p:nvSpPr>
        <p:spPr>
          <a:xfrm>
            <a:off x="1057025" y="1691148"/>
            <a:ext cx="5040285" cy="401081"/>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2400" dirty="0">
                <a:ea typeface="+mj-ea"/>
                <a:cs typeface="+mj-cs"/>
              </a:rPr>
              <a:t>INSIGHTS &amp; ANALYSIS</a:t>
            </a:r>
          </a:p>
        </p:txBody>
      </p:sp>
      <p:sp>
        <p:nvSpPr>
          <p:cNvPr id="49" name="Rectangle 4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D1DAF97-98FA-307D-64CE-86DAF479E298}"/>
              </a:ext>
            </a:extLst>
          </p:cNvPr>
          <p:cNvSpPr txBox="1"/>
          <p:nvPr/>
        </p:nvSpPr>
        <p:spPr>
          <a:xfrm>
            <a:off x="1106599" y="2092229"/>
            <a:ext cx="5040285" cy="3632493"/>
          </a:xfrm>
          <a:prstGeom prst="rect">
            <a:avLst/>
          </a:prstGeom>
        </p:spPr>
        <p:txBody>
          <a:bodyPr vert="horz" lIns="91440" tIns="45720" rIns="91440" bIns="45720" rtlCol="0" anchor="ctr">
            <a:normAutofit/>
          </a:bodyPr>
          <a:lstStyle/>
          <a:p>
            <a:pPr>
              <a:lnSpc>
                <a:spcPct val="90000"/>
              </a:lnSpc>
              <a:spcAft>
                <a:spcPts val="600"/>
              </a:spcAft>
            </a:pPr>
            <a:r>
              <a:rPr lang="en-US" sz="1300" dirty="0"/>
              <a:t>Revenue performance across product categories, customer segments, and age demographics reveals a clear concentration of sales among high-value items and loyal customer groups. Laptops generated the highest revenue at $15.9M, followed by smartphones ($9.3M), tablets ($7.2M), and smartwatches ($5.2M), confirming that premium devices continue to drive top-line growth. Returning and VIP customers contributed a combined $33.9M, while new customers accounted for just $3.6M, indicating strong retention but limited acquisition success. Age-wise, middle-aged adults (50–64) and adults (35–49) were the most profitable segments, generating $12M and $11M respectively, while younger groups lagged behind. This pattern suggests that </a:t>
            </a:r>
            <a:r>
              <a:rPr lang="en-US" sz="1300" dirty="0" err="1"/>
              <a:t>AfriTech’s</a:t>
            </a:r>
            <a:r>
              <a:rPr lang="en-US" sz="1300" dirty="0"/>
              <a:t> sales are sustained by mature, repeat buyers with high purchasing power, but future growth will depend on expanding appeal to younger demographics and converting new customers into long-term revenue contributors.</a:t>
            </a:r>
          </a:p>
        </p:txBody>
      </p:sp>
      <p:pic>
        <p:nvPicPr>
          <p:cNvPr id="14" name="Picture 13">
            <a:extLst>
              <a:ext uri="{FF2B5EF4-FFF2-40B4-BE49-F238E27FC236}">
                <a16:creationId xmlns:a16="http://schemas.microsoft.com/office/drawing/2014/main" id="{2A804367-4FD8-41A3-5DB3-274BFD1CB8B6}"/>
              </a:ext>
            </a:extLst>
          </p:cNvPr>
          <p:cNvPicPr>
            <a:picLocks noChangeAspect="1"/>
          </p:cNvPicPr>
          <p:nvPr/>
        </p:nvPicPr>
        <p:blipFill>
          <a:blip r:embed="rId2"/>
          <a:stretch>
            <a:fillRect/>
          </a:stretch>
        </p:blipFill>
        <p:spPr>
          <a:xfrm>
            <a:off x="8043970" y="1555276"/>
            <a:ext cx="2166773" cy="4490721"/>
          </a:xfrm>
          <a:prstGeom prst="rect">
            <a:avLst/>
          </a:prstGeom>
        </p:spPr>
      </p:pic>
      <p:pic>
        <p:nvPicPr>
          <p:cNvPr id="6" name="Graphic 5" descr="A lightbulb">
            <a:extLst>
              <a:ext uri="{FF2B5EF4-FFF2-40B4-BE49-F238E27FC236}">
                <a16:creationId xmlns:a16="http://schemas.microsoft.com/office/drawing/2014/main" id="{72D07400-2363-C8C7-319B-E9677BF313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4867795" y="1071178"/>
            <a:ext cx="1328273" cy="1328273"/>
          </a:xfrm>
          <a:prstGeom prst="rect">
            <a:avLst/>
          </a:prstGeom>
        </p:spPr>
      </p:pic>
    </p:spTree>
    <p:extLst>
      <p:ext uri="{BB962C8B-B14F-4D97-AF65-F5344CB8AC3E}">
        <p14:creationId xmlns:p14="http://schemas.microsoft.com/office/powerpoint/2010/main" val="3967286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a:extLst>
            <a:ext uri="{FF2B5EF4-FFF2-40B4-BE49-F238E27FC236}">
              <a16:creationId xmlns:a16="http://schemas.microsoft.com/office/drawing/2014/main" id="{14E5CB85-E0BE-BA84-27E0-A2BDCDA34298}"/>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CE90A0D7-3A5A-8783-222F-F9FDB2571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A7465B7B-F5EF-FA5B-8BA3-ED51BD2C41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4" name="Rectangle 43">
              <a:extLst>
                <a:ext uri="{FF2B5EF4-FFF2-40B4-BE49-F238E27FC236}">
                  <a16:creationId xmlns:a16="http://schemas.microsoft.com/office/drawing/2014/main" id="{356F3116-1F96-4AD2-EB49-FA78955661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914C8EA-3DA0-6E80-6777-71E4FF53BE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52509CE5-3E4A-CEF6-F4A5-8F584D53EF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6138833-3570-F173-1C2A-047B2E5125D2}"/>
              </a:ext>
            </a:extLst>
          </p:cNvPr>
          <p:cNvSpPr txBox="1"/>
          <p:nvPr/>
        </p:nvSpPr>
        <p:spPr>
          <a:xfrm>
            <a:off x="1057025" y="1691148"/>
            <a:ext cx="5040285" cy="401081"/>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2400" dirty="0">
                <a:ea typeface="+mj-ea"/>
                <a:cs typeface="+mj-cs"/>
              </a:rPr>
              <a:t>INSIGHTS &amp; ANALYSIS</a:t>
            </a:r>
          </a:p>
        </p:txBody>
      </p:sp>
      <p:sp>
        <p:nvSpPr>
          <p:cNvPr id="49" name="Rectangle 48">
            <a:extLst>
              <a:ext uri="{FF2B5EF4-FFF2-40B4-BE49-F238E27FC236}">
                <a16:creationId xmlns:a16="http://schemas.microsoft.com/office/drawing/2014/main" id="{2574EB39-03E2-2868-AC10-AB377BD9CC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2EFBC9A-7D48-5C9C-594F-95CA660EF73E}"/>
              </a:ext>
            </a:extLst>
          </p:cNvPr>
          <p:cNvSpPr txBox="1"/>
          <p:nvPr/>
        </p:nvSpPr>
        <p:spPr>
          <a:xfrm>
            <a:off x="1055714" y="2092229"/>
            <a:ext cx="5040285" cy="3632493"/>
          </a:xfrm>
          <a:prstGeom prst="rect">
            <a:avLst/>
          </a:prstGeom>
        </p:spPr>
        <p:txBody>
          <a:bodyPr vert="horz" lIns="91440" tIns="45720" rIns="91440" bIns="45720" rtlCol="0" anchor="ctr">
            <a:normAutofit/>
          </a:bodyPr>
          <a:lstStyle/>
          <a:p>
            <a:pPr>
              <a:lnSpc>
                <a:spcPct val="90000"/>
              </a:lnSpc>
              <a:spcAft>
                <a:spcPts val="600"/>
              </a:spcAft>
            </a:pPr>
            <a:r>
              <a:rPr lang="en-US" sz="1300" dirty="0"/>
              <a:t>Revenue performance across product categories, customer segments, and age demographics reveals a clear concentration of sales among high-value items and loyal customer groups. Laptops generated the highest revenue at $15.9M, followed by smartphones ($9.3M), tablets ($7.2M), and smartwatches ($5.2M), confirming that premium devices continue to drive top-line growth. Returning and VIP customers contributed a combined $33.9M, while new customers accounted for just $3.6M, indicating strong retention but limited acquisition success. Age-wise, middle-aged adults (50–64) and adults (35–49) were the most profitable segments, generating $12M and $11M respectively, while younger groups lagged behind. This pattern suggests that </a:t>
            </a:r>
            <a:r>
              <a:rPr lang="en-US" sz="1300" dirty="0" err="1"/>
              <a:t>AfriTech’s</a:t>
            </a:r>
            <a:r>
              <a:rPr lang="en-US" sz="1300" dirty="0"/>
              <a:t> sales are sustained by mature, repeat buyers with high purchasing power, but future growth will depend on expanding appeal to younger demographics and converting new customers into long-term revenue contributors.</a:t>
            </a:r>
          </a:p>
        </p:txBody>
      </p:sp>
      <p:pic>
        <p:nvPicPr>
          <p:cNvPr id="6" name="Graphic 5" descr="A lightbulb">
            <a:extLst>
              <a:ext uri="{FF2B5EF4-FFF2-40B4-BE49-F238E27FC236}">
                <a16:creationId xmlns:a16="http://schemas.microsoft.com/office/drawing/2014/main" id="{AB4F837A-67F9-4A7B-D212-D0BF164A61E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339344" y="985211"/>
            <a:ext cx="1542686" cy="1411873"/>
          </a:xfrm>
          <a:prstGeom prst="rect">
            <a:avLst/>
          </a:prstGeom>
        </p:spPr>
      </p:pic>
      <p:pic>
        <p:nvPicPr>
          <p:cNvPr id="4" name="Picture 3">
            <a:extLst>
              <a:ext uri="{FF2B5EF4-FFF2-40B4-BE49-F238E27FC236}">
                <a16:creationId xmlns:a16="http://schemas.microsoft.com/office/drawing/2014/main" id="{3BC4C7DD-BBEC-DF1B-0971-4317B0A76DAD}"/>
              </a:ext>
            </a:extLst>
          </p:cNvPr>
          <p:cNvPicPr>
            <a:picLocks noChangeAspect="1"/>
          </p:cNvPicPr>
          <p:nvPr/>
        </p:nvPicPr>
        <p:blipFill>
          <a:blip r:embed="rId4"/>
          <a:stretch>
            <a:fillRect/>
          </a:stretch>
        </p:blipFill>
        <p:spPr>
          <a:xfrm>
            <a:off x="6675528" y="1691148"/>
            <a:ext cx="4818382" cy="4168916"/>
          </a:xfrm>
          <a:prstGeom prst="rect">
            <a:avLst/>
          </a:prstGeom>
        </p:spPr>
      </p:pic>
    </p:spTree>
    <p:extLst>
      <p:ext uri="{BB962C8B-B14F-4D97-AF65-F5344CB8AC3E}">
        <p14:creationId xmlns:p14="http://schemas.microsoft.com/office/powerpoint/2010/main" val="2732805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a:extLst>
            <a:ext uri="{FF2B5EF4-FFF2-40B4-BE49-F238E27FC236}">
              <a16:creationId xmlns:a16="http://schemas.microsoft.com/office/drawing/2014/main" id="{2C5947EF-C37A-50BE-8404-119C58BE0D73}"/>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02E6DA4B-A37D-45D0-6132-E7B8B62D4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FC3093E3-A8EF-3A97-8CAC-4B924C68A6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4" name="Rectangle 43">
              <a:extLst>
                <a:ext uri="{FF2B5EF4-FFF2-40B4-BE49-F238E27FC236}">
                  <a16:creationId xmlns:a16="http://schemas.microsoft.com/office/drawing/2014/main" id="{287DF5CC-B58A-57A4-8F46-204D10C40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F363F1D-EF5B-C75B-AD75-07CCA361C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F08FD977-D748-57C8-EE86-760B4289F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ADA31A8-E606-3F9C-AAFF-CA0A29CB50CD}"/>
              </a:ext>
            </a:extLst>
          </p:cNvPr>
          <p:cNvSpPr txBox="1"/>
          <p:nvPr/>
        </p:nvSpPr>
        <p:spPr>
          <a:xfrm>
            <a:off x="1057025" y="1691148"/>
            <a:ext cx="5040285" cy="401081"/>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2400" dirty="0">
                <a:ea typeface="+mj-ea"/>
                <a:cs typeface="+mj-cs"/>
              </a:rPr>
              <a:t>INSIGHTS &amp; ANALYSIS</a:t>
            </a:r>
          </a:p>
        </p:txBody>
      </p:sp>
      <p:sp>
        <p:nvSpPr>
          <p:cNvPr id="49" name="Rectangle 48">
            <a:extLst>
              <a:ext uri="{FF2B5EF4-FFF2-40B4-BE49-F238E27FC236}">
                <a16:creationId xmlns:a16="http://schemas.microsoft.com/office/drawing/2014/main" id="{4F65F932-60B0-2A87-3659-8B6B1671C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F8C10C1-65D9-BDA3-ECD0-7578126B1939}"/>
              </a:ext>
            </a:extLst>
          </p:cNvPr>
          <p:cNvSpPr txBox="1"/>
          <p:nvPr/>
        </p:nvSpPr>
        <p:spPr>
          <a:xfrm>
            <a:off x="953189" y="2349769"/>
            <a:ext cx="5040285" cy="3632493"/>
          </a:xfrm>
          <a:prstGeom prst="rect">
            <a:avLst/>
          </a:prstGeom>
        </p:spPr>
        <p:txBody>
          <a:bodyPr vert="horz" lIns="91440" tIns="45720" rIns="91440" bIns="45720" rtlCol="0" anchor="ctr">
            <a:noAutofit/>
          </a:bodyPr>
          <a:lstStyle/>
          <a:p>
            <a:r>
              <a:rPr lang="en-US" sz="1300" dirty="0"/>
              <a:t>Revenue distribution highlights a strong concentration of sales in key U.S. states, with Utah emerging as the top-performing region out of 40 analyzed.</a:t>
            </a:r>
          </a:p>
          <a:p>
            <a:r>
              <a:rPr lang="en-US" sz="1300" dirty="0"/>
              <a:t>Utah leads with the highest revenue volume, followed by Nebraska, Virginia, Oklahoma, and Kentucky, each contributing significantly to overall performance. The dominance of these regions suggests that </a:t>
            </a:r>
            <a:r>
              <a:rPr lang="en-US" sz="1300" dirty="0" err="1"/>
              <a:t>AfriTech’s</a:t>
            </a:r>
            <a:r>
              <a:rPr lang="en-US" sz="1300" dirty="0"/>
              <a:t> market penetration is strongest in central and southeastern states, where customer engagement and product adoption appear to be highest. The variation in circle size and color across the map reflects not only revenue magnitude but also potential differences in product mix or customer type. This geographic concentration presents both an opportunity and a risk: while these regions are driving current sales, over-reliance on a few high-performing states could expose the business to localized disruptions. To sustain growth, </a:t>
            </a:r>
            <a:r>
              <a:rPr lang="en-US" sz="1300" dirty="0" err="1"/>
              <a:t>AfriTech</a:t>
            </a:r>
            <a:r>
              <a:rPr lang="en-US" sz="1300" dirty="0"/>
              <a:t> should explore expansion strategies in underperforming regions, replicate successful campaigns from top markets, and tailor regional offerings to maximize revenue potential across the full dataset.</a:t>
            </a:r>
          </a:p>
        </p:txBody>
      </p:sp>
      <p:pic>
        <p:nvPicPr>
          <p:cNvPr id="6" name="Graphic 5" descr="A lightbulb">
            <a:extLst>
              <a:ext uri="{FF2B5EF4-FFF2-40B4-BE49-F238E27FC236}">
                <a16:creationId xmlns:a16="http://schemas.microsoft.com/office/drawing/2014/main" id="{D4021A05-A61B-492A-016A-0850E17E87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339344" y="985211"/>
            <a:ext cx="1542686" cy="1411873"/>
          </a:xfrm>
          <a:prstGeom prst="rect">
            <a:avLst/>
          </a:prstGeom>
        </p:spPr>
      </p:pic>
      <p:pic>
        <p:nvPicPr>
          <p:cNvPr id="5" name="Picture 4">
            <a:extLst>
              <a:ext uri="{FF2B5EF4-FFF2-40B4-BE49-F238E27FC236}">
                <a16:creationId xmlns:a16="http://schemas.microsoft.com/office/drawing/2014/main" id="{AB32ACBB-522E-17E8-D512-7536F6102674}"/>
              </a:ext>
            </a:extLst>
          </p:cNvPr>
          <p:cNvPicPr>
            <a:picLocks noChangeAspect="1"/>
          </p:cNvPicPr>
          <p:nvPr/>
        </p:nvPicPr>
        <p:blipFill>
          <a:blip r:embed="rId4"/>
          <a:stretch>
            <a:fillRect/>
          </a:stretch>
        </p:blipFill>
        <p:spPr>
          <a:xfrm>
            <a:off x="6298274" y="2528648"/>
            <a:ext cx="5344271" cy="2741441"/>
          </a:xfrm>
          <a:prstGeom prst="rect">
            <a:avLst/>
          </a:prstGeom>
        </p:spPr>
      </p:pic>
    </p:spTree>
    <p:extLst>
      <p:ext uri="{BB962C8B-B14F-4D97-AF65-F5344CB8AC3E}">
        <p14:creationId xmlns:p14="http://schemas.microsoft.com/office/powerpoint/2010/main" val="3004680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a:extLst>
            <a:ext uri="{FF2B5EF4-FFF2-40B4-BE49-F238E27FC236}">
              <a16:creationId xmlns:a16="http://schemas.microsoft.com/office/drawing/2014/main" id="{5DDFDBE9-5F27-B728-3284-C85E2DB9561C}"/>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6080925E-85BA-FC73-A801-7DDC7C731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67DA9639-53DD-D19C-2DEB-9A00640883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4" name="Rectangle 43">
              <a:extLst>
                <a:ext uri="{FF2B5EF4-FFF2-40B4-BE49-F238E27FC236}">
                  <a16:creationId xmlns:a16="http://schemas.microsoft.com/office/drawing/2014/main" id="{D650860F-4D2F-5846-13B2-59EA1556B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35E3AAA-BFFB-824C-5EEB-81FB6BE29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29E3F715-B889-11CC-48DA-D7856E45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3681C49-BA64-97E7-C86B-ACCFFFB96167}"/>
              </a:ext>
            </a:extLst>
          </p:cNvPr>
          <p:cNvSpPr txBox="1"/>
          <p:nvPr/>
        </p:nvSpPr>
        <p:spPr>
          <a:xfrm>
            <a:off x="1055714" y="1836538"/>
            <a:ext cx="5040285" cy="401081"/>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2400" dirty="0">
                <a:ea typeface="+mj-ea"/>
                <a:cs typeface="+mj-cs"/>
              </a:rPr>
              <a:t>INSIGHTS &amp; ANALYSIS</a:t>
            </a:r>
          </a:p>
        </p:txBody>
      </p:sp>
      <p:sp>
        <p:nvSpPr>
          <p:cNvPr id="49" name="Rectangle 48">
            <a:extLst>
              <a:ext uri="{FF2B5EF4-FFF2-40B4-BE49-F238E27FC236}">
                <a16:creationId xmlns:a16="http://schemas.microsoft.com/office/drawing/2014/main" id="{4595627A-06B1-2A14-115C-FCD7B1DF6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E52D142-8EB2-D7C6-9248-F8E120058718}"/>
              </a:ext>
            </a:extLst>
          </p:cNvPr>
          <p:cNvSpPr txBox="1"/>
          <p:nvPr/>
        </p:nvSpPr>
        <p:spPr>
          <a:xfrm>
            <a:off x="953189" y="2463905"/>
            <a:ext cx="5040285" cy="3632493"/>
          </a:xfrm>
          <a:prstGeom prst="rect">
            <a:avLst/>
          </a:prstGeom>
        </p:spPr>
        <p:txBody>
          <a:bodyPr vert="horz" lIns="91440" tIns="45720" rIns="91440" bIns="45720" rtlCol="0" anchor="ctr">
            <a:noAutofit/>
          </a:bodyPr>
          <a:lstStyle/>
          <a:p>
            <a:endParaRPr lang="en-US" sz="1300" dirty="0"/>
          </a:p>
        </p:txBody>
      </p:sp>
      <p:pic>
        <p:nvPicPr>
          <p:cNvPr id="6" name="Graphic 5" descr="A lightbulb">
            <a:extLst>
              <a:ext uri="{FF2B5EF4-FFF2-40B4-BE49-F238E27FC236}">
                <a16:creationId xmlns:a16="http://schemas.microsoft.com/office/drawing/2014/main" id="{9B43A4C7-8DD9-4BB1-4DA3-7B70373FCF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420178" y="1224690"/>
            <a:ext cx="1326206" cy="1278194"/>
          </a:xfrm>
          <a:prstGeom prst="rect">
            <a:avLst/>
          </a:prstGeom>
        </p:spPr>
      </p:pic>
      <p:pic>
        <p:nvPicPr>
          <p:cNvPr id="4" name="Picture 3">
            <a:extLst>
              <a:ext uri="{FF2B5EF4-FFF2-40B4-BE49-F238E27FC236}">
                <a16:creationId xmlns:a16="http://schemas.microsoft.com/office/drawing/2014/main" id="{E5B34CCE-D86E-60A7-AB8A-304D55AEA40C}"/>
              </a:ext>
            </a:extLst>
          </p:cNvPr>
          <p:cNvPicPr>
            <a:picLocks noChangeAspect="1"/>
          </p:cNvPicPr>
          <p:nvPr/>
        </p:nvPicPr>
        <p:blipFill>
          <a:blip r:embed="rId4"/>
          <a:stretch>
            <a:fillRect/>
          </a:stretch>
        </p:blipFill>
        <p:spPr>
          <a:xfrm>
            <a:off x="6276770" y="1355594"/>
            <a:ext cx="2198699" cy="4573294"/>
          </a:xfrm>
          <a:prstGeom prst="rect">
            <a:avLst/>
          </a:prstGeom>
        </p:spPr>
      </p:pic>
      <p:pic>
        <p:nvPicPr>
          <p:cNvPr id="8" name="Picture 7">
            <a:extLst>
              <a:ext uri="{FF2B5EF4-FFF2-40B4-BE49-F238E27FC236}">
                <a16:creationId xmlns:a16="http://schemas.microsoft.com/office/drawing/2014/main" id="{46FE5A7C-DEB1-0F10-8835-01FC55FA5C5A}"/>
              </a:ext>
            </a:extLst>
          </p:cNvPr>
          <p:cNvPicPr>
            <a:picLocks noChangeAspect="1"/>
          </p:cNvPicPr>
          <p:nvPr/>
        </p:nvPicPr>
        <p:blipFill>
          <a:blip r:embed="rId5"/>
          <a:stretch>
            <a:fillRect/>
          </a:stretch>
        </p:blipFill>
        <p:spPr>
          <a:xfrm>
            <a:off x="8585534" y="2841523"/>
            <a:ext cx="3068367" cy="1791579"/>
          </a:xfrm>
          <a:prstGeom prst="rect">
            <a:avLst/>
          </a:prstGeom>
        </p:spPr>
      </p:pic>
      <p:sp>
        <p:nvSpPr>
          <p:cNvPr id="11" name="TextBox 10">
            <a:extLst>
              <a:ext uri="{FF2B5EF4-FFF2-40B4-BE49-F238E27FC236}">
                <a16:creationId xmlns:a16="http://schemas.microsoft.com/office/drawing/2014/main" id="{C13B9CFC-FBA2-3635-1C6B-604510CDB168}"/>
              </a:ext>
            </a:extLst>
          </p:cNvPr>
          <p:cNvSpPr txBox="1"/>
          <p:nvPr/>
        </p:nvSpPr>
        <p:spPr>
          <a:xfrm>
            <a:off x="579528" y="2316543"/>
            <a:ext cx="5537950" cy="3893374"/>
          </a:xfrm>
          <a:prstGeom prst="rect">
            <a:avLst/>
          </a:prstGeom>
          <a:noFill/>
        </p:spPr>
        <p:txBody>
          <a:bodyPr wrap="square">
            <a:spAutoFit/>
          </a:bodyPr>
          <a:lstStyle/>
          <a:p>
            <a:r>
              <a:rPr lang="en-US" sz="1300" dirty="0" err="1"/>
              <a:t>AfriTech’s</a:t>
            </a:r>
            <a:r>
              <a:rPr lang="en-US" sz="1300" dirty="0"/>
              <a:t> social media engagement patterns reveal strong platform performance and age-group targeting opportunities that directly influence brand visibility and revenue growth.</a:t>
            </a:r>
          </a:p>
          <a:p>
            <a:r>
              <a:rPr lang="en-US" sz="1300" dirty="0"/>
              <a:t>Customer engagement is highest on TikTok (15.3K), Instagram (15.1K), and Twitter (14.8K), with image-based posts leading in effectiveness at 15.5K interactions, followed closely by video and story formats. This indicates that visually rich content is driving the most traction across platforms, making it essential for </a:t>
            </a:r>
            <a:r>
              <a:rPr lang="en-US" sz="1300" dirty="0" err="1"/>
              <a:t>AfriTech</a:t>
            </a:r>
            <a:r>
              <a:rPr lang="en-US" sz="1300" dirty="0"/>
              <a:t> to prioritize multimedia campaigns in its digital strategy. Age-wise, middle-aged adults (50–64) and adults (35–49) dominate engagement at 24K and 22K respectively, aligning with the same demographics that generate the highest revenue. However, younger segments such as youth (18–24) and young adults (25–34) show significantly lower engagement, suggesting a gap in content resonance or platform targeting. This mismatch presents a strategic opportunity: by tailoring creative content and platform-specific messaging to younger audiences, </a:t>
            </a:r>
            <a:r>
              <a:rPr lang="en-US" sz="1300" dirty="0" err="1"/>
              <a:t>AfriTech</a:t>
            </a:r>
            <a:r>
              <a:rPr lang="en-US" sz="1300" dirty="0"/>
              <a:t> can expand its reach, improve sentiment, and convert engagement into sales. Strengthening brand presence on high-performing platforms with age-appropriate content will be key to reversing sentiment challenges and unlocking new revenue streams.</a:t>
            </a:r>
          </a:p>
        </p:txBody>
      </p:sp>
    </p:spTree>
    <p:extLst>
      <p:ext uri="{BB962C8B-B14F-4D97-AF65-F5344CB8AC3E}">
        <p14:creationId xmlns:p14="http://schemas.microsoft.com/office/powerpoint/2010/main" val="147915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a:extLst>
            <a:ext uri="{FF2B5EF4-FFF2-40B4-BE49-F238E27FC236}">
              <a16:creationId xmlns:a16="http://schemas.microsoft.com/office/drawing/2014/main" id="{09CEC030-8E84-569A-410B-74CAF250063A}"/>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082B32F6-DFF3-6803-6E4D-D7EFD21445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FBAADB5A-0261-0484-4B4E-29269E4340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4" name="Rectangle 43">
              <a:extLst>
                <a:ext uri="{FF2B5EF4-FFF2-40B4-BE49-F238E27FC236}">
                  <a16:creationId xmlns:a16="http://schemas.microsoft.com/office/drawing/2014/main" id="{A0928C90-1FF8-C2BF-8D43-00C35D4CE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A5903E9-2A5B-D0A2-A8DF-7D091D394C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1DDD1613-F0FA-D04E-6DD9-D66F33B44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3B3FA9B-127B-BFFE-BD5A-BD423D570833}"/>
              </a:ext>
            </a:extLst>
          </p:cNvPr>
          <p:cNvSpPr txBox="1"/>
          <p:nvPr/>
        </p:nvSpPr>
        <p:spPr>
          <a:xfrm>
            <a:off x="1055714" y="1836538"/>
            <a:ext cx="5040285" cy="401081"/>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2400" dirty="0">
                <a:ea typeface="+mj-ea"/>
                <a:cs typeface="+mj-cs"/>
              </a:rPr>
              <a:t>INSIGHTS &amp; ANALYSIS</a:t>
            </a:r>
          </a:p>
        </p:txBody>
      </p:sp>
      <p:sp>
        <p:nvSpPr>
          <p:cNvPr id="49" name="Rectangle 48">
            <a:extLst>
              <a:ext uri="{FF2B5EF4-FFF2-40B4-BE49-F238E27FC236}">
                <a16:creationId xmlns:a16="http://schemas.microsoft.com/office/drawing/2014/main" id="{B145F350-7102-2841-88B8-F012C04D4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59D4FFC-9530-AC0E-EB9D-17C8D20E3971}"/>
              </a:ext>
            </a:extLst>
          </p:cNvPr>
          <p:cNvSpPr txBox="1"/>
          <p:nvPr/>
        </p:nvSpPr>
        <p:spPr>
          <a:xfrm>
            <a:off x="953189" y="2463905"/>
            <a:ext cx="5040285" cy="3632493"/>
          </a:xfrm>
          <a:prstGeom prst="rect">
            <a:avLst/>
          </a:prstGeom>
        </p:spPr>
        <p:txBody>
          <a:bodyPr vert="horz" lIns="91440" tIns="45720" rIns="91440" bIns="45720" rtlCol="0" anchor="ctr">
            <a:noAutofit/>
          </a:bodyPr>
          <a:lstStyle/>
          <a:p>
            <a:endParaRPr lang="en-US" sz="1300" dirty="0"/>
          </a:p>
        </p:txBody>
      </p:sp>
      <p:pic>
        <p:nvPicPr>
          <p:cNvPr id="6" name="Graphic 5" descr="A lightbulb">
            <a:extLst>
              <a:ext uri="{FF2B5EF4-FFF2-40B4-BE49-F238E27FC236}">
                <a16:creationId xmlns:a16="http://schemas.microsoft.com/office/drawing/2014/main" id="{5E6658ED-F4DF-0E22-F46B-2C0C60D433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420178" y="1224690"/>
            <a:ext cx="1326206" cy="1278194"/>
          </a:xfrm>
          <a:prstGeom prst="rect">
            <a:avLst/>
          </a:prstGeom>
        </p:spPr>
      </p:pic>
      <p:sp>
        <p:nvSpPr>
          <p:cNvPr id="11" name="TextBox 10">
            <a:extLst>
              <a:ext uri="{FF2B5EF4-FFF2-40B4-BE49-F238E27FC236}">
                <a16:creationId xmlns:a16="http://schemas.microsoft.com/office/drawing/2014/main" id="{3C3145D1-8F17-94AD-ECB5-21A01B927C74}"/>
              </a:ext>
            </a:extLst>
          </p:cNvPr>
          <p:cNvSpPr txBox="1"/>
          <p:nvPr/>
        </p:nvSpPr>
        <p:spPr>
          <a:xfrm>
            <a:off x="551963" y="2360054"/>
            <a:ext cx="5609104" cy="3893374"/>
          </a:xfrm>
          <a:prstGeom prst="rect">
            <a:avLst/>
          </a:prstGeom>
          <a:noFill/>
        </p:spPr>
        <p:txBody>
          <a:bodyPr wrap="square">
            <a:spAutoFit/>
          </a:bodyPr>
          <a:lstStyle/>
          <a:p>
            <a:r>
              <a:rPr lang="en-US" sz="1300" dirty="0" err="1"/>
              <a:t>AfriTech’s</a:t>
            </a:r>
            <a:r>
              <a:rPr lang="en-US" sz="1300" dirty="0"/>
              <a:t> brand sentiment and engagement trends show significant growth in visibility, but mixed emotional response and competitor overlap are limiting conversion into revenue.</a:t>
            </a:r>
          </a:p>
          <a:p>
            <a:r>
              <a:rPr lang="en-US" sz="1300" dirty="0"/>
              <a:t>Total engagements surged from 8K in 2022 to 66K in 2023, reflecting a major increase in audience interaction and content reach. This growth signals successful platform expansion and campaign visibility, yet sentiment analysis reveals that only 36.37% of posts are positive, while 27.85% are negative and 35.78% neutral, indicating that a substantial portion of engagement may not be translating into brand trust or purchase intent. Additionally, brand mentions are highest when competitors are referenced, suggesting that </a:t>
            </a:r>
            <a:r>
              <a:rPr lang="en-US" sz="1300" dirty="0" err="1"/>
              <a:t>AfriTech’s</a:t>
            </a:r>
            <a:r>
              <a:rPr lang="en-US" sz="1300" dirty="0"/>
              <a:t> visibility is often tied to comparative discussions rather than standalone brand strength. This dynamic poses a risk: while engagement volume is high, the emotional tone and competitive framing may dilute </a:t>
            </a:r>
            <a:r>
              <a:rPr lang="en-US" sz="1300" dirty="0" err="1"/>
              <a:t>AfriTech’s</a:t>
            </a:r>
            <a:r>
              <a:rPr lang="en-US" sz="1300" dirty="0"/>
              <a:t> value proposition and hinder revenue conversion. To capitalize on rising engagement, </a:t>
            </a:r>
            <a:r>
              <a:rPr lang="en-US" sz="1300" dirty="0" err="1"/>
              <a:t>AfriTech</a:t>
            </a:r>
            <a:r>
              <a:rPr lang="en-US" sz="1300" dirty="0"/>
              <a:t> must shift sentiment toward positivity through targeted messaging, influencer partnerships, and proactive customer support. Strengthening brand identity independent of competitor comparisons will be key to turning visibility into sustained revenue growth.</a:t>
            </a:r>
          </a:p>
        </p:txBody>
      </p:sp>
      <p:pic>
        <p:nvPicPr>
          <p:cNvPr id="5" name="Picture 4">
            <a:extLst>
              <a:ext uri="{FF2B5EF4-FFF2-40B4-BE49-F238E27FC236}">
                <a16:creationId xmlns:a16="http://schemas.microsoft.com/office/drawing/2014/main" id="{274001B7-C4BA-E149-8A4A-AA726F2FF717}"/>
              </a:ext>
            </a:extLst>
          </p:cNvPr>
          <p:cNvPicPr>
            <a:picLocks noChangeAspect="1"/>
          </p:cNvPicPr>
          <p:nvPr/>
        </p:nvPicPr>
        <p:blipFill>
          <a:blip r:embed="rId4"/>
          <a:stretch>
            <a:fillRect/>
          </a:stretch>
        </p:blipFill>
        <p:spPr>
          <a:xfrm>
            <a:off x="6274168" y="2046684"/>
            <a:ext cx="5341444" cy="2267113"/>
          </a:xfrm>
          <a:prstGeom prst="rect">
            <a:avLst/>
          </a:prstGeom>
        </p:spPr>
      </p:pic>
      <p:pic>
        <p:nvPicPr>
          <p:cNvPr id="9" name="Picture 8">
            <a:extLst>
              <a:ext uri="{FF2B5EF4-FFF2-40B4-BE49-F238E27FC236}">
                <a16:creationId xmlns:a16="http://schemas.microsoft.com/office/drawing/2014/main" id="{3B1A3DA3-C598-974F-95FB-A9D1B40F7FD8}"/>
              </a:ext>
            </a:extLst>
          </p:cNvPr>
          <p:cNvPicPr>
            <a:picLocks noChangeAspect="1"/>
          </p:cNvPicPr>
          <p:nvPr/>
        </p:nvPicPr>
        <p:blipFill>
          <a:blip r:embed="rId5"/>
          <a:stretch>
            <a:fillRect/>
          </a:stretch>
        </p:blipFill>
        <p:spPr>
          <a:xfrm>
            <a:off x="6298593" y="4405320"/>
            <a:ext cx="5341444" cy="1848108"/>
          </a:xfrm>
          <a:prstGeom prst="rect">
            <a:avLst/>
          </a:prstGeom>
        </p:spPr>
      </p:pic>
    </p:spTree>
    <p:extLst>
      <p:ext uri="{BB962C8B-B14F-4D97-AF65-F5344CB8AC3E}">
        <p14:creationId xmlns:p14="http://schemas.microsoft.com/office/powerpoint/2010/main" val="337705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a:extLst>
            <a:ext uri="{FF2B5EF4-FFF2-40B4-BE49-F238E27FC236}">
              <a16:creationId xmlns:a16="http://schemas.microsoft.com/office/drawing/2014/main" id="{3FF8D16E-026A-82DC-5835-99C041B69AFE}"/>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E2881DF-2EA7-65D8-F61E-DB2B19B6E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4352CF80-7587-1A54-A2D3-FECDA8A941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4" name="Rectangle 43">
              <a:extLst>
                <a:ext uri="{FF2B5EF4-FFF2-40B4-BE49-F238E27FC236}">
                  <a16:creationId xmlns:a16="http://schemas.microsoft.com/office/drawing/2014/main" id="{828C0D8E-94BC-1F2B-D460-FA8DFCF605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FA2AD46-2CFD-143E-2AE8-CD46A448D6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AC18D09E-C1B4-B151-AF09-FA310E2AA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0979485-DE66-AFB3-794F-0CE44A478DBA}"/>
              </a:ext>
            </a:extLst>
          </p:cNvPr>
          <p:cNvSpPr txBox="1"/>
          <p:nvPr/>
        </p:nvSpPr>
        <p:spPr>
          <a:xfrm>
            <a:off x="1055714" y="1836538"/>
            <a:ext cx="5040285" cy="401081"/>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2400" dirty="0">
                <a:ea typeface="+mj-ea"/>
                <a:cs typeface="+mj-cs"/>
              </a:rPr>
              <a:t>INSIGHTS &amp; ANALYSIS</a:t>
            </a:r>
          </a:p>
        </p:txBody>
      </p:sp>
      <p:sp>
        <p:nvSpPr>
          <p:cNvPr id="49" name="Rectangle 48">
            <a:extLst>
              <a:ext uri="{FF2B5EF4-FFF2-40B4-BE49-F238E27FC236}">
                <a16:creationId xmlns:a16="http://schemas.microsoft.com/office/drawing/2014/main" id="{7A7F2EDC-057F-0B86-73B7-ADF918D31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A68773C-3AC2-4C80-0BC9-E0FE75B77760}"/>
              </a:ext>
            </a:extLst>
          </p:cNvPr>
          <p:cNvSpPr txBox="1"/>
          <p:nvPr/>
        </p:nvSpPr>
        <p:spPr>
          <a:xfrm>
            <a:off x="953189" y="2463905"/>
            <a:ext cx="5040285" cy="3632493"/>
          </a:xfrm>
          <a:prstGeom prst="rect">
            <a:avLst/>
          </a:prstGeom>
        </p:spPr>
        <p:txBody>
          <a:bodyPr vert="horz" lIns="91440" tIns="45720" rIns="91440" bIns="45720" rtlCol="0" anchor="ctr">
            <a:noAutofit/>
          </a:bodyPr>
          <a:lstStyle/>
          <a:p>
            <a:endParaRPr lang="en-US" sz="1300" dirty="0"/>
          </a:p>
        </p:txBody>
      </p:sp>
      <p:pic>
        <p:nvPicPr>
          <p:cNvPr id="6" name="Graphic 5" descr="A lightbulb">
            <a:extLst>
              <a:ext uri="{FF2B5EF4-FFF2-40B4-BE49-F238E27FC236}">
                <a16:creationId xmlns:a16="http://schemas.microsoft.com/office/drawing/2014/main" id="{A14D4E43-9E4A-EF47-0EFE-F4C58B3CDE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420178" y="1224690"/>
            <a:ext cx="1326206" cy="1278194"/>
          </a:xfrm>
          <a:prstGeom prst="rect">
            <a:avLst/>
          </a:prstGeom>
        </p:spPr>
      </p:pic>
      <p:sp>
        <p:nvSpPr>
          <p:cNvPr id="11" name="TextBox 10">
            <a:extLst>
              <a:ext uri="{FF2B5EF4-FFF2-40B4-BE49-F238E27FC236}">
                <a16:creationId xmlns:a16="http://schemas.microsoft.com/office/drawing/2014/main" id="{D9EE1A74-4CC7-15FD-A60D-D2A1B64F8541}"/>
              </a:ext>
            </a:extLst>
          </p:cNvPr>
          <p:cNvSpPr txBox="1"/>
          <p:nvPr/>
        </p:nvSpPr>
        <p:spPr>
          <a:xfrm>
            <a:off x="579528" y="2379125"/>
            <a:ext cx="5609104" cy="3493264"/>
          </a:xfrm>
          <a:prstGeom prst="rect">
            <a:avLst/>
          </a:prstGeom>
          <a:noFill/>
        </p:spPr>
        <p:txBody>
          <a:bodyPr wrap="square">
            <a:spAutoFit/>
          </a:bodyPr>
          <a:lstStyle/>
          <a:p>
            <a:r>
              <a:rPr lang="en-US" sz="1300" dirty="0" err="1"/>
              <a:t>AfriTech’s</a:t>
            </a:r>
            <a:r>
              <a:rPr lang="en-US" sz="1300" dirty="0"/>
              <a:t> crisis management data reveals a high volume of product recalls concentrated in key regions, with nearly half occurring post-transaction posing a direct threat to customer trust and revenue retention.</a:t>
            </a:r>
          </a:p>
          <a:p>
            <a:r>
              <a:rPr lang="en-US" sz="1300" dirty="0"/>
              <a:t>Among the 40 regions analyzed, the top 10 including Montana (1,147 recalls), Nebraska (1,138), and West Virginia (1,048) account for a disproportionate share of product issues, suggesting localized quality control or distribution challenges. The recall split shows 24.5K occurred after transactions, compared to 23.5K before, meaning a significant number of customers experienced product failures after purchase, which amplifies dissatisfaction and increases the likelihood of churn. This post-sale recall pattern not only damages brand reputation but also undermines repeat purchase behavior, especially in high-revenue regions. If unresolved, these issues could erode </a:t>
            </a:r>
            <a:r>
              <a:rPr lang="en-US" sz="1300" dirty="0" err="1"/>
              <a:t>AfriTech’s</a:t>
            </a:r>
            <a:r>
              <a:rPr lang="en-US" sz="1300" dirty="0"/>
              <a:t> stronghold in its top-performing markets and weaken long-term revenue streams. To mitigate this, </a:t>
            </a:r>
            <a:r>
              <a:rPr lang="en-US" sz="1300" dirty="0" err="1"/>
              <a:t>AfriTech</a:t>
            </a:r>
            <a:r>
              <a:rPr lang="en-US" sz="1300" dirty="0"/>
              <a:t> must prioritize regional root-cause analysis, strengthen post-sale support, and implement proactive recall communication strategies to preserve customer loyalty and protect future sales.</a:t>
            </a:r>
          </a:p>
        </p:txBody>
      </p:sp>
      <p:pic>
        <p:nvPicPr>
          <p:cNvPr id="4" name="Picture 3">
            <a:extLst>
              <a:ext uri="{FF2B5EF4-FFF2-40B4-BE49-F238E27FC236}">
                <a16:creationId xmlns:a16="http://schemas.microsoft.com/office/drawing/2014/main" id="{32F69CA2-4594-039F-CBE1-6699EFFD433B}"/>
              </a:ext>
            </a:extLst>
          </p:cNvPr>
          <p:cNvPicPr>
            <a:picLocks noChangeAspect="1"/>
          </p:cNvPicPr>
          <p:nvPr/>
        </p:nvPicPr>
        <p:blipFill>
          <a:blip r:embed="rId4"/>
          <a:stretch>
            <a:fillRect/>
          </a:stretch>
        </p:blipFill>
        <p:spPr>
          <a:xfrm>
            <a:off x="6902245" y="2163195"/>
            <a:ext cx="4628104" cy="3910629"/>
          </a:xfrm>
          <a:prstGeom prst="rect">
            <a:avLst/>
          </a:prstGeom>
        </p:spPr>
      </p:pic>
    </p:spTree>
    <p:extLst>
      <p:ext uri="{BB962C8B-B14F-4D97-AF65-F5344CB8AC3E}">
        <p14:creationId xmlns:p14="http://schemas.microsoft.com/office/powerpoint/2010/main" val="3340338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a:extLst>
            <a:ext uri="{FF2B5EF4-FFF2-40B4-BE49-F238E27FC236}">
              <a16:creationId xmlns:a16="http://schemas.microsoft.com/office/drawing/2014/main" id="{32310DC2-BFA1-8D64-37C8-3279020C90DF}"/>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C9462B0B-702B-14D1-0944-126225C330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7496796F-A29D-183C-3A6A-61ABA6D026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4" name="Rectangle 43">
              <a:extLst>
                <a:ext uri="{FF2B5EF4-FFF2-40B4-BE49-F238E27FC236}">
                  <a16:creationId xmlns:a16="http://schemas.microsoft.com/office/drawing/2014/main" id="{CC086782-F2D1-876D-3764-68F51054B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2E21E02-732F-0179-BA05-B8929C76C4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156B77CA-AA63-9DCF-8CC5-F44006364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5404873-41D6-3D70-98F0-75C9B8488467}"/>
              </a:ext>
            </a:extLst>
          </p:cNvPr>
          <p:cNvSpPr txBox="1"/>
          <p:nvPr/>
        </p:nvSpPr>
        <p:spPr>
          <a:xfrm>
            <a:off x="1055714" y="1836538"/>
            <a:ext cx="5040285" cy="401081"/>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2400" dirty="0">
                <a:ea typeface="+mj-ea"/>
                <a:cs typeface="+mj-cs"/>
              </a:rPr>
              <a:t>INSIGHTS &amp; ANALYSIS</a:t>
            </a:r>
          </a:p>
        </p:txBody>
      </p:sp>
      <p:sp>
        <p:nvSpPr>
          <p:cNvPr id="49" name="Rectangle 48">
            <a:extLst>
              <a:ext uri="{FF2B5EF4-FFF2-40B4-BE49-F238E27FC236}">
                <a16:creationId xmlns:a16="http://schemas.microsoft.com/office/drawing/2014/main" id="{CB50729A-17DE-A4A0-A227-6E7BCD7DA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98F516C-A97C-FB61-2C76-BE81406FF6F6}"/>
              </a:ext>
            </a:extLst>
          </p:cNvPr>
          <p:cNvSpPr txBox="1"/>
          <p:nvPr/>
        </p:nvSpPr>
        <p:spPr>
          <a:xfrm>
            <a:off x="953189" y="2463905"/>
            <a:ext cx="5040285" cy="3632493"/>
          </a:xfrm>
          <a:prstGeom prst="rect">
            <a:avLst/>
          </a:prstGeom>
        </p:spPr>
        <p:txBody>
          <a:bodyPr vert="horz" lIns="91440" tIns="45720" rIns="91440" bIns="45720" rtlCol="0" anchor="ctr">
            <a:noAutofit/>
          </a:bodyPr>
          <a:lstStyle/>
          <a:p>
            <a:endParaRPr lang="en-US" sz="1300" dirty="0"/>
          </a:p>
        </p:txBody>
      </p:sp>
      <p:pic>
        <p:nvPicPr>
          <p:cNvPr id="6" name="Graphic 5" descr="A lightbulb">
            <a:extLst>
              <a:ext uri="{FF2B5EF4-FFF2-40B4-BE49-F238E27FC236}">
                <a16:creationId xmlns:a16="http://schemas.microsoft.com/office/drawing/2014/main" id="{F5EE5DAF-BCD1-2813-E541-FC7713EBAF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420178" y="1224690"/>
            <a:ext cx="1326206" cy="1278194"/>
          </a:xfrm>
          <a:prstGeom prst="rect">
            <a:avLst/>
          </a:prstGeom>
        </p:spPr>
      </p:pic>
      <p:sp>
        <p:nvSpPr>
          <p:cNvPr id="11" name="TextBox 10">
            <a:extLst>
              <a:ext uri="{FF2B5EF4-FFF2-40B4-BE49-F238E27FC236}">
                <a16:creationId xmlns:a16="http://schemas.microsoft.com/office/drawing/2014/main" id="{D2B2777B-B52A-B9A1-00B2-16DD313CDA6A}"/>
              </a:ext>
            </a:extLst>
          </p:cNvPr>
          <p:cNvSpPr txBox="1"/>
          <p:nvPr/>
        </p:nvSpPr>
        <p:spPr>
          <a:xfrm>
            <a:off x="579528" y="2379125"/>
            <a:ext cx="5609104" cy="3693319"/>
          </a:xfrm>
          <a:prstGeom prst="rect">
            <a:avLst/>
          </a:prstGeom>
          <a:noFill/>
        </p:spPr>
        <p:txBody>
          <a:bodyPr wrap="square">
            <a:spAutoFit/>
          </a:bodyPr>
          <a:lstStyle/>
          <a:p>
            <a:r>
              <a:rPr lang="en-US" sz="1300" dirty="0" err="1"/>
              <a:t>AfriTech’s</a:t>
            </a:r>
            <a:r>
              <a:rPr lang="en-US" sz="1300" dirty="0"/>
              <a:t> crisis resolution performance has directly impacted brand trust and contributed to the revenue decline from 2022 to 2023, driven by rising unresolved cases and worsening response times.</a:t>
            </a:r>
          </a:p>
          <a:p>
            <a:r>
              <a:rPr lang="en-US" sz="1300" dirty="0"/>
              <a:t>Out of a total of 13.4K recorded crises, 7K remain unresolved, with VIP and returning customers accounting for over 91% of these cases a critical concern given their high contribution to revenue. Only 6.4K crises were resolved, indicating that nearly half of all issues persist, undermining customer confidence and loyalty. The average response time has steadily worsened, rising from 188 days in 2021 to 192 days in 2023, reflecting operational inefficiencies and delayed support. This sluggish responsiveness, especially in handling high-value customer complaints, has likely accelerated churn and eroded repeat purchase behavior. The timing aligns with </a:t>
            </a:r>
            <a:r>
              <a:rPr lang="en-US" sz="1300" dirty="0" err="1"/>
              <a:t>AfriTech’s</a:t>
            </a:r>
            <a:r>
              <a:rPr lang="en-US" sz="1300" dirty="0"/>
              <a:t> revenue drop from $20M in 2022 to $16M in 2023, suggesting that unresolved crises and poor service delivery have materially weakened sales performance. To reverse this trend, </a:t>
            </a:r>
            <a:r>
              <a:rPr lang="en-US" sz="1300" dirty="0" err="1"/>
              <a:t>AfriTech</a:t>
            </a:r>
            <a:r>
              <a:rPr lang="en-US" sz="1300" dirty="0"/>
              <a:t> must urgently streamline its crisis resolution workflows, prioritize VIP and returning customer support, and reduce response times to restore trust and stabilize revenue.</a:t>
            </a:r>
          </a:p>
        </p:txBody>
      </p:sp>
      <p:pic>
        <p:nvPicPr>
          <p:cNvPr id="5" name="Picture 4">
            <a:extLst>
              <a:ext uri="{FF2B5EF4-FFF2-40B4-BE49-F238E27FC236}">
                <a16:creationId xmlns:a16="http://schemas.microsoft.com/office/drawing/2014/main" id="{1DC718B9-A583-B781-4F66-129823E4711B}"/>
              </a:ext>
            </a:extLst>
          </p:cNvPr>
          <p:cNvPicPr>
            <a:picLocks noChangeAspect="1"/>
          </p:cNvPicPr>
          <p:nvPr/>
        </p:nvPicPr>
        <p:blipFill>
          <a:blip r:embed="rId4"/>
          <a:stretch>
            <a:fillRect/>
          </a:stretch>
        </p:blipFill>
        <p:spPr>
          <a:xfrm>
            <a:off x="8604999" y="1635282"/>
            <a:ext cx="2349394" cy="3042538"/>
          </a:xfrm>
          <a:prstGeom prst="rect">
            <a:avLst/>
          </a:prstGeom>
        </p:spPr>
      </p:pic>
      <p:pic>
        <p:nvPicPr>
          <p:cNvPr id="8" name="Picture 7">
            <a:extLst>
              <a:ext uri="{FF2B5EF4-FFF2-40B4-BE49-F238E27FC236}">
                <a16:creationId xmlns:a16="http://schemas.microsoft.com/office/drawing/2014/main" id="{F285783B-A48E-AA18-B738-F27E3912E3BD}"/>
              </a:ext>
            </a:extLst>
          </p:cNvPr>
          <p:cNvPicPr>
            <a:picLocks noChangeAspect="1"/>
          </p:cNvPicPr>
          <p:nvPr/>
        </p:nvPicPr>
        <p:blipFill>
          <a:blip r:embed="rId5"/>
          <a:stretch>
            <a:fillRect/>
          </a:stretch>
        </p:blipFill>
        <p:spPr>
          <a:xfrm>
            <a:off x="7003433" y="4834699"/>
            <a:ext cx="4609039" cy="1384285"/>
          </a:xfrm>
          <a:prstGeom prst="rect">
            <a:avLst/>
          </a:prstGeom>
        </p:spPr>
      </p:pic>
    </p:spTree>
    <p:extLst>
      <p:ext uri="{BB962C8B-B14F-4D97-AF65-F5344CB8AC3E}">
        <p14:creationId xmlns:p14="http://schemas.microsoft.com/office/powerpoint/2010/main" val="1695458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a:extLst>
            <a:ext uri="{FF2B5EF4-FFF2-40B4-BE49-F238E27FC236}">
              <a16:creationId xmlns:a16="http://schemas.microsoft.com/office/drawing/2014/main" id="{77988377-B04B-35D6-E95C-B14B6164AD41}"/>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EE00ED47-5558-6C2D-A858-F4C2E619BE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33C36234-2B1F-928E-1AD6-33E178F627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4" name="Rectangle 43">
              <a:extLst>
                <a:ext uri="{FF2B5EF4-FFF2-40B4-BE49-F238E27FC236}">
                  <a16:creationId xmlns:a16="http://schemas.microsoft.com/office/drawing/2014/main" id="{15C50DD1-84B8-1FBD-6347-0C0E0BC18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AB0E1C9-9DB2-C24D-F0BB-658C151C3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45B5F8F8-6EED-D7CB-3DE9-FF98FA529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D0836A6-D0E1-6FC6-0463-7724DD015E54}"/>
              </a:ext>
            </a:extLst>
          </p:cNvPr>
          <p:cNvSpPr txBox="1"/>
          <p:nvPr/>
        </p:nvSpPr>
        <p:spPr>
          <a:xfrm>
            <a:off x="1055714" y="1836538"/>
            <a:ext cx="5040285" cy="401081"/>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2400" dirty="0">
                <a:ea typeface="+mj-ea"/>
                <a:cs typeface="+mj-cs"/>
              </a:rPr>
              <a:t>INSIGHTS &amp; ANALYSIS</a:t>
            </a:r>
          </a:p>
        </p:txBody>
      </p:sp>
      <p:sp>
        <p:nvSpPr>
          <p:cNvPr id="49" name="Rectangle 48">
            <a:extLst>
              <a:ext uri="{FF2B5EF4-FFF2-40B4-BE49-F238E27FC236}">
                <a16:creationId xmlns:a16="http://schemas.microsoft.com/office/drawing/2014/main" id="{344E27FF-8A0D-B5E5-C782-C35CED4CE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9675680-1FAF-40D6-1EAB-1FFB85F4089B}"/>
              </a:ext>
            </a:extLst>
          </p:cNvPr>
          <p:cNvSpPr txBox="1"/>
          <p:nvPr/>
        </p:nvSpPr>
        <p:spPr>
          <a:xfrm>
            <a:off x="953189" y="2463905"/>
            <a:ext cx="5040285" cy="3632493"/>
          </a:xfrm>
          <a:prstGeom prst="rect">
            <a:avLst/>
          </a:prstGeom>
        </p:spPr>
        <p:txBody>
          <a:bodyPr vert="horz" lIns="91440" tIns="45720" rIns="91440" bIns="45720" rtlCol="0" anchor="ctr">
            <a:noAutofit/>
          </a:bodyPr>
          <a:lstStyle/>
          <a:p>
            <a:endParaRPr lang="en-US" sz="1300" dirty="0"/>
          </a:p>
        </p:txBody>
      </p:sp>
      <p:pic>
        <p:nvPicPr>
          <p:cNvPr id="6" name="Graphic 5" descr="A lightbulb">
            <a:extLst>
              <a:ext uri="{FF2B5EF4-FFF2-40B4-BE49-F238E27FC236}">
                <a16:creationId xmlns:a16="http://schemas.microsoft.com/office/drawing/2014/main" id="{5849D458-CDBC-09BA-35E8-81AE1EF6B2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420178" y="1224690"/>
            <a:ext cx="1326206" cy="1278194"/>
          </a:xfrm>
          <a:prstGeom prst="rect">
            <a:avLst/>
          </a:prstGeom>
        </p:spPr>
      </p:pic>
      <p:sp>
        <p:nvSpPr>
          <p:cNvPr id="11" name="TextBox 10">
            <a:extLst>
              <a:ext uri="{FF2B5EF4-FFF2-40B4-BE49-F238E27FC236}">
                <a16:creationId xmlns:a16="http://schemas.microsoft.com/office/drawing/2014/main" id="{CF5E05F3-65FB-4B86-AC3F-C16DAC1D6B5C}"/>
              </a:ext>
            </a:extLst>
          </p:cNvPr>
          <p:cNvSpPr txBox="1"/>
          <p:nvPr/>
        </p:nvSpPr>
        <p:spPr>
          <a:xfrm>
            <a:off x="720042" y="2339815"/>
            <a:ext cx="5609104" cy="3893374"/>
          </a:xfrm>
          <a:prstGeom prst="rect">
            <a:avLst/>
          </a:prstGeom>
          <a:noFill/>
        </p:spPr>
        <p:txBody>
          <a:bodyPr wrap="square">
            <a:spAutoFit/>
          </a:bodyPr>
          <a:lstStyle/>
          <a:p>
            <a:r>
              <a:rPr lang="en-US" sz="1300" dirty="0" err="1"/>
              <a:t>AfriTech’s</a:t>
            </a:r>
            <a:r>
              <a:rPr lang="en-US" sz="1300" dirty="0"/>
              <a:t> Net Promoter Score (NPS) distribution reveals a concerning imbalance in customer sentiment, with detractors significantly outnumbering promoters posing a direct risk to brand loyalty and future revenue.</a:t>
            </a:r>
          </a:p>
          <a:p>
            <a:r>
              <a:rPr lang="en-US" sz="1300" dirty="0"/>
              <a:t>Out of the total customer base analyzed, 18,224 customers fall into the detractor category (scores 1–4), compared to only 13,339 promoters (scores 8–10) and 12,308 passives (scores 5–7). This skewed sentiment profile suggests that a large portion of </a:t>
            </a:r>
            <a:r>
              <a:rPr lang="en-US" sz="1300" dirty="0" err="1"/>
              <a:t>AfriTech’s</a:t>
            </a:r>
            <a:r>
              <a:rPr lang="en-US" sz="1300" dirty="0"/>
              <a:t> customers are dissatisfied or unlikely to recommend the brand, which correlates with the unresolved crisis volumes and long response times previously observed. The presence of 4,191 blank entries also indicates gaps in feedback collection, limiting the company’s ability to act on sentiment data. This imbalance in NPS not only reflects weakened customer trust but also helps explain the revenue decline from $20M in 2022 to $16M in 2023, as negative sentiment often leads to reduced repeat purchases and poor word-of-mouth. To reverse this trend, </a:t>
            </a:r>
            <a:r>
              <a:rPr lang="en-US" sz="1300" dirty="0" err="1"/>
              <a:t>AfriTech</a:t>
            </a:r>
            <a:r>
              <a:rPr lang="en-US" sz="1300" dirty="0"/>
              <a:t> must prioritize service recovery for detractors, enhance post-sale support, and actively convert passives into promoters through personalized engagement and loyalty initiatives. A healthier NPS distribution will be critical to restoring brand equity and driving sustainable revenue growth.</a:t>
            </a:r>
          </a:p>
        </p:txBody>
      </p:sp>
      <p:pic>
        <p:nvPicPr>
          <p:cNvPr id="4" name="Picture 3">
            <a:extLst>
              <a:ext uri="{FF2B5EF4-FFF2-40B4-BE49-F238E27FC236}">
                <a16:creationId xmlns:a16="http://schemas.microsoft.com/office/drawing/2014/main" id="{D7CA09C5-857E-0EEA-3C70-1AA23C857114}"/>
              </a:ext>
            </a:extLst>
          </p:cNvPr>
          <p:cNvPicPr>
            <a:picLocks noChangeAspect="1"/>
          </p:cNvPicPr>
          <p:nvPr/>
        </p:nvPicPr>
        <p:blipFill>
          <a:blip r:embed="rId4"/>
          <a:stretch>
            <a:fillRect/>
          </a:stretch>
        </p:blipFill>
        <p:spPr>
          <a:xfrm>
            <a:off x="7655106" y="2526890"/>
            <a:ext cx="3057952" cy="2495898"/>
          </a:xfrm>
          <a:prstGeom prst="rect">
            <a:avLst/>
          </a:prstGeom>
        </p:spPr>
      </p:pic>
    </p:spTree>
    <p:extLst>
      <p:ext uri="{BB962C8B-B14F-4D97-AF65-F5344CB8AC3E}">
        <p14:creationId xmlns:p14="http://schemas.microsoft.com/office/powerpoint/2010/main" val="585437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244B11-8476-EE0D-CFAD-9C7703177ED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D1758B2-946D-E1EE-8CA4-55AFACAAB437}"/>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a:solidFill>
            <a:schemeClr val="accent1"/>
          </a:solidFill>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38681011-8539-8306-553C-492D23BB62E8}"/>
              </a:ext>
            </a:extLst>
          </p:cNvPr>
          <p:cNvGraphicFramePr/>
          <p:nvPr>
            <p:extLst>
              <p:ext uri="{D42A27DB-BD31-4B8C-83A1-F6EECF244321}">
                <p14:modId xmlns:p14="http://schemas.microsoft.com/office/powerpoint/2010/main" val="1032141417"/>
              </p:ext>
            </p:extLst>
          </p:nvPr>
        </p:nvGraphicFramePr>
        <p:xfrm>
          <a:off x="0" y="643622"/>
          <a:ext cx="11946194" cy="62143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9358C50D-A0EC-4758-F9D8-9E9410C2879A}"/>
              </a:ext>
            </a:extLst>
          </p:cNvPr>
          <p:cNvSpPr txBox="1"/>
          <p:nvPr/>
        </p:nvSpPr>
        <p:spPr>
          <a:xfrm>
            <a:off x="4267201" y="181957"/>
            <a:ext cx="2576051" cy="461665"/>
          </a:xfrm>
          <a:prstGeom prst="rect">
            <a:avLst/>
          </a:prstGeom>
          <a:noFill/>
        </p:spPr>
        <p:txBody>
          <a:bodyPr wrap="square" rtlCol="0">
            <a:spAutoFit/>
          </a:bodyPr>
          <a:lstStyle/>
          <a:p>
            <a:r>
              <a:rPr lang="en-GB" sz="2400" b="1" dirty="0">
                <a:solidFill>
                  <a:schemeClr val="accent1"/>
                </a:solidFill>
              </a:rPr>
              <a:t>URGENT ACTION</a:t>
            </a:r>
          </a:p>
        </p:txBody>
      </p:sp>
    </p:spTree>
    <p:extLst>
      <p:ext uri="{BB962C8B-B14F-4D97-AF65-F5344CB8AC3E}">
        <p14:creationId xmlns:p14="http://schemas.microsoft.com/office/powerpoint/2010/main" val="2296257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6E525842-5779-B056-D94F-BECEF0EA21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4D8F2B-B733-3718-369F-DF6AB4182820}"/>
              </a:ext>
            </a:extLst>
          </p:cNvPr>
          <p:cNvSpPr txBox="1"/>
          <p:nvPr/>
        </p:nvSpPr>
        <p:spPr>
          <a:xfrm>
            <a:off x="4267201" y="181957"/>
            <a:ext cx="3244644" cy="461665"/>
          </a:xfrm>
          <a:prstGeom prst="rect">
            <a:avLst/>
          </a:prstGeom>
          <a:noFill/>
        </p:spPr>
        <p:txBody>
          <a:bodyPr wrap="square" rtlCol="0">
            <a:spAutoFit/>
          </a:bodyPr>
          <a:lstStyle/>
          <a:p>
            <a:r>
              <a:rPr lang="en-GB" sz="2400" b="1" dirty="0">
                <a:solidFill>
                  <a:schemeClr val="bg1"/>
                </a:solidFill>
              </a:rPr>
              <a:t>RECOMMENDATION</a:t>
            </a:r>
          </a:p>
        </p:txBody>
      </p:sp>
      <p:sp>
        <p:nvSpPr>
          <p:cNvPr id="3" name="TextBox 2">
            <a:extLst>
              <a:ext uri="{FF2B5EF4-FFF2-40B4-BE49-F238E27FC236}">
                <a16:creationId xmlns:a16="http://schemas.microsoft.com/office/drawing/2014/main" id="{F8D35E9C-596F-1CAC-7BA7-0BEDA92234DD}"/>
              </a:ext>
            </a:extLst>
          </p:cNvPr>
          <p:cNvSpPr txBox="1"/>
          <p:nvPr/>
        </p:nvSpPr>
        <p:spPr>
          <a:xfrm>
            <a:off x="324464" y="657979"/>
            <a:ext cx="11867536" cy="5832366"/>
          </a:xfrm>
          <a:prstGeom prst="rect">
            <a:avLst/>
          </a:prstGeom>
          <a:noFill/>
        </p:spPr>
        <p:txBody>
          <a:bodyPr wrap="square" rtlCol="0">
            <a:spAutoFit/>
          </a:bodyPr>
          <a:lstStyle/>
          <a:p>
            <a:r>
              <a:rPr lang="en-US" sz="1400" b="1" u="sng" dirty="0">
                <a:solidFill>
                  <a:schemeClr val="bg1"/>
                </a:solidFill>
              </a:rPr>
              <a:t>Customer Experience &amp; Retention</a:t>
            </a:r>
          </a:p>
          <a:p>
            <a:r>
              <a:rPr lang="en-US" sz="1300" dirty="0">
                <a:solidFill>
                  <a:schemeClr val="bg1"/>
                </a:solidFill>
              </a:rPr>
              <a:t>Launch a Customer Recovery Program: Focus on detractors and unresolved VIP/returning customer cases. Offer personalized outreach, compensation, and fast-tracked support to rebuild trust.</a:t>
            </a:r>
          </a:p>
          <a:p>
            <a:r>
              <a:rPr lang="en-US" sz="1300" dirty="0">
                <a:solidFill>
                  <a:schemeClr val="bg1"/>
                </a:solidFill>
              </a:rPr>
              <a:t>Shorten Response Time Targets: Set a 30-day maximum response time goal for all crises. Use automation and escalation protocols to meet it.</a:t>
            </a:r>
          </a:p>
          <a:p>
            <a:r>
              <a:rPr lang="en-US" sz="1300" dirty="0">
                <a:solidFill>
                  <a:schemeClr val="bg1"/>
                </a:solidFill>
              </a:rPr>
              <a:t>Implement Post-Transaction Feedback Loops: Ensure every customer who transacts is prompted for feedback, and act on it within 7 days to show responsiveness.</a:t>
            </a:r>
          </a:p>
          <a:p>
            <a:r>
              <a:rPr lang="en-US" sz="1300" dirty="0">
                <a:solidFill>
                  <a:schemeClr val="bg1"/>
                </a:solidFill>
              </a:rPr>
              <a:t>📊</a:t>
            </a:r>
            <a:r>
              <a:rPr lang="en-US" sz="1400" b="1" u="sng" dirty="0">
                <a:solidFill>
                  <a:schemeClr val="bg1"/>
                </a:solidFill>
              </a:rPr>
              <a:t> Sales &amp; Revenue Optimization</a:t>
            </a:r>
          </a:p>
          <a:p>
            <a:r>
              <a:rPr lang="en-US" sz="1300" dirty="0">
                <a:solidFill>
                  <a:schemeClr val="bg1"/>
                </a:solidFill>
              </a:rPr>
              <a:t>Re-engage High-Value Age Segments: Middle-aged and adult customers drive both revenue and engagement—double down on loyalty programs, exclusive offers, and tailored messaging.</a:t>
            </a:r>
          </a:p>
          <a:p>
            <a:r>
              <a:rPr lang="en-US" sz="1300" dirty="0">
                <a:solidFill>
                  <a:schemeClr val="bg1"/>
                </a:solidFill>
              </a:rPr>
              <a:t>Boost New Customer Conversion: With new customers contributing only $3.6M, redesign onboarding flows, offer first-time incentives, and track conversion from engagement to purchase.</a:t>
            </a:r>
          </a:p>
          <a:p>
            <a:r>
              <a:rPr lang="en-US" sz="1300" dirty="0">
                <a:solidFill>
                  <a:schemeClr val="bg1"/>
                </a:solidFill>
              </a:rPr>
              <a:t>Expand Regional Sales Strategy: Replicate successful campaigns from top-performing states (e.g., Utah, Nebraska) in underperforming regions using localized content and offers.</a:t>
            </a:r>
          </a:p>
          <a:p>
            <a:r>
              <a:rPr lang="en-US" sz="1300" dirty="0">
                <a:solidFill>
                  <a:schemeClr val="bg1"/>
                </a:solidFill>
              </a:rPr>
              <a:t>📣 </a:t>
            </a:r>
            <a:r>
              <a:rPr lang="en-US" sz="1400" b="1" u="sng" dirty="0">
                <a:solidFill>
                  <a:schemeClr val="bg1"/>
                </a:solidFill>
              </a:rPr>
              <a:t>Brand &amp; Social Media Strategy</a:t>
            </a:r>
          </a:p>
          <a:p>
            <a:r>
              <a:rPr lang="en-US" sz="1300" dirty="0">
                <a:solidFill>
                  <a:schemeClr val="bg1"/>
                </a:solidFill>
              </a:rPr>
              <a:t>Shift Sentiment from Neutral to Positive: Use storytelling, customer testimonials, and influencer partnerships to emotionally connect with audiences and elevate brand perception.</a:t>
            </a:r>
          </a:p>
          <a:p>
            <a:r>
              <a:rPr lang="en-US" sz="1300" dirty="0">
                <a:solidFill>
                  <a:schemeClr val="bg1"/>
                </a:solidFill>
              </a:rPr>
              <a:t>Optimize Content for High-Engagement Formats: Prioritize image and video posts on TikTok and Instagram, where engagement is strongest. Use age-specific targeting to reach younger segments.</a:t>
            </a:r>
          </a:p>
          <a:p>
            <a:r>
              <a:rPr lang="en-US" sz="1300" dirty="0">
                <a:solidFill>
                  <a:schemeClr val="bg1"/>
                </a:solidFill>
              </a:rPr>
              <a:t>Monitor Competitor Mentions: Since brand visibility often spikes when competitors are referenced, develop proactive messaging that highlights </a:t>
            </a:r>
            <a:r>
              <a:rPr lang="en-US" sz="1300" dirty="0" err="1">
                <a:solidFill>
                  <a:schemeClr val="bg1"/>
                </a:solidFill>
              </a:rPr>
              <a:t>AfriTech’s</a:t>
            </a:r>
            <a:r>
              <a:rPr lang="en-US" sz="1300" dirty="0">
                <a:solidFill>
                  <a:schemeClr val="bg1"/>
                </a:solidFill>
              </a:rPr>
              <a:t> unique value without relying on comparisons.</a:t>
            </a:r>
            <a:endParaRPr lang="en-US" sz="1300" u="sng" dirty="0">
              <a:solidFill>
                <a:schemeClr val="bg1"/>
              </a:solidFill>
            </a:endParaRPr>
          </a:p>
          <a:p>
            <a:r>
              <a:rPr lang="en-US" sz="1300" dirty="0">
                <a:solidFill>
                  <a:schemeClr val="bg1"/>
                </a:solidFill>
              </a:rPr>
              <a:t>🛠️ </a:t>
            </a:r>
            <a:r>
              <a:rPr lang="en-US" sz="1400" b="1" u="sng" dirty="0">
                <a:solidFill>
                  <a:schemeClr val="bg1"/>
                </a:solidFill>
              </a:rPr>
              <a:t>Crisis Management &amp; Operational Efficiency</a:t>
            </a:r>
          </a:p>
          <a:p>
            <a:r>
              <a:rPr lang="en-US" sz="1300" dirty="0">
                <a:solidFill>
                  <a:schemeClr val="bg1"/>
                </a:solidFill>
              </a:rPr>
              <a:t>Conduct Root-Cause Analysis in High-Recall Regions: Investigate Montana, Nebraska, and West Virginia for systemic issues in product quality or logistics.</a:t>
            </a:r>
          </a:p>
          <a:p>
            <a:r>
              <a:rPr lang="en-US" sz="1300" dirty="0">
                <a:solidFill>
                  <a:schemeClr val="bg1"/>
                </a:solidFill>
              </a:rPr>
              <a:t>Create a Crisis Dashboard: Track resolution status, response times, and sentiment impact in real time to guide executive decisions.</a:t>
            </a:r>
          </a:p>
          <a:p>
            <a:r>
              <a:rPr lang="en-US" sz="1300" dirty="0">
                <a:solidFill>
                  <a:schemeClr val="bg1"/>
                </a:solidFill>
              </a:rPr>
              <a:t>Train Support Teams on Empathy &amp; Speed: Equip frontline staff with tools and scripts to handle complaints swiftly and compassionately, especially for VIPs.</a:t>
            </a:r>
          </a:p>
          <a:p>
            <a:r>
              <a:rPr lang="en-US" sz="1300" dirty="0">
                <a:solidFill>
                  <a:schemeClr val="bg1"/>
                </a:solidFill>
              </a:rPr>
              <a:t>🔮 </a:t>
            </a:r>
            <a:r>
              <a:rPr lang="en-US" sz="1400" b="1" u="sng" dirty="0">
                <a:solidFill>
                  <a:schemeClr val="bg1"/>
                </a:solidFill>
              </a:rPr>
              <a:t>Strategic Growth &amp; Innovation</a:t>
            </a:r>
          </a:p>
          <a:p>
            <a:r>
              <a:rPr lang="en-US" sz="1300" dirty="0">
                <a:solidFill>
                  <a:schemeClr val="bg1"/>
                </a:solidFill>
              </a:rPr>
              <a:t>Invest in Predictive Analytics: Use engagement, sentiment, and complaint data to forecast churn and proactively intervene.</a:t>
            </a:r>
          </a:p>
          <a:p>
            <a:r>
              <a:rPr lang="en-US" sz="1300" dirty="0">
                <a:solidFill>
                  <a:schemeClr val="bg1"/>
                </a:solidFill>
              </a:rPr>
              <a:t>Develop Youth-Focused Product Lines: Engagement among younger age groups is low—introduce affordable, trend-driven tech products with targeted campaigns.</a:t>
            </a:r>
          </a:p>
          <a:p>
            <a:r>
              <a:rPr lang="en-US" sz="1300" dirty="0">
                <a:solidFill>
                  <a:schemeClr val="bg1"/>
                </a:solidFill>
              </a:rPr>
              <a:t>Build a Brand Advocacy Program: Turn promoters into brand ambassadors with referral bonuses, early access to new products, and community-building initiatives.</a:t>
            </a:r>
          </a:p>
          <a:p>
            <a:endParaRPr lang="en-GB" dirty="0"/>
          </a:p>
        </p:txBody>
      </p:sp>
    </p:spTree>
    <p:extLst>
      <p:ext uri="{BB962C8B-B14F-4D97-AF65-F5344CB8AC3E}">
        <p14:creationId xmlns:p14="http://schemas.microsoft.com/office/powerpoint/2010/main" val="731701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496</TotalTime>
  <Words>3048</Words>
  <Application>Microsoft Office PowerPoint</Application>
  <PresentationFormat>Widescreen</PresentationFormat>
  <Paragraphs>119</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segun balogun</dc:creator>
  <cp:lastModifiedBy>segun balogun</cp:lastModifiedBy>
  <cp:revision>1</cp:revision>
  <dcterms:created xsi:type="dcterms:W3CDTF">2025-11-10T11:25:09Z</dcterms:created>
  <dcterms:modified xsi:type="dcterms:W3CDTF">2025-11-10T19:41:39Z</dcterms:modified>
</cp:coreProperties>
</file>